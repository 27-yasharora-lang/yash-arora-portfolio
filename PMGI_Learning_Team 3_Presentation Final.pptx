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700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PMGI_Learning_Team_3_Final_Report_With_Call_Evidence(1).docx, cover page and report title.
[/Sources]
Speaker cue:
Open by framing the project as a portfolio-management study of a mature personal-loan product, not a software-feature launch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PMGI_Learning_Team_3_Final_Report_With_Call_Evidence(1).docx, Executive Summary and Methodology; Appendix A.
- Screenshot 2026-08-16 124704.png — user-provided Google Meet evidence.
- Gemini_Generated_Image_qdly6iqdly6iqdly(1).png — user-provided 40-minute call-duration evidence.
[/Sources]
Speaker cue:
Explain the evidence convention before discussing findings. The presentation preserves the report’s distinction between interview evidence and team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PMGI_Learning_Team_3_Final_Report_With_Call_Evidence(1).docx, Section 03 Product and Product-Manager Context.
- PMGI interview transcript, Question 1.
[/Sources]
Speaker cue:
Emphasise that Mr. Banani’s role sits close to the commercial control centre of the portfolio.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PMGI_Learning_Team_3_Final_Report_With_Call_Evidence(1).docx, Section 04 Opportunity, Customer Segment and Value Proposition.
- PMGI interview transcript, Questions 3–5.
[/Sources]
Speaker cue:
State clearly that the market figures are interview estimates. The analytical move is from category size to a risk-appropriate beachhead and a specific repayment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PMGI_Learning_Team_3_Final_Report_With_Call_Evidence(1).docx, Section 04 Value Proposition.
- PMGI interview transcript, Question 5 — illustrative EMI consolidation example.
[/Sources]
Speaker cue:
Use the before/after visual to explain the customer value, then immediately acknowledge the longer-tenure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PMGI_Learning_Team_3_Final_Report_With_Call_Evidence(1).docx, Sections 05 and 06.
- PMGI interview transcript, Questions 6–8.
[/Sources]
Speaker cue:
The lifecycle is an informed description of the wider team process. The controlled rollout is a Learning Team 3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PMGI_Learning_Team_3_Final_Report_With_Call_Evidence(1).docx, Section 07 Risk, Product-Market Fit and Product Discontinuation.
- PMGI interview transcript, risk discussion and Question 9.
[/Sources]
Speaker cue:
The core insight is that lending PMF cannot be diagnosed from launch conversion or first-year profit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PMGI_Learning_Team_3_Final_Report_With_Call_Evidence(1).docx, Section 09 Proposed Outcome Roadmap and Prioritisation.
[/Sources]
Speaker cue:
Present the roadmap as an evidence-led recommendation. The sequence deliberately postpones scaling until journey, credit and contribution signals are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PMGI_Learning_Team_3_Final_Report_With_Call_Evidence(1).docx, Section 10 Metric Tree, Experiments and Risk Controls.
[/Sources]
Speaker cue:
Explain why disbursal volume alone is a poor North Star: it ignores customer suitability, credit quality and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PMGI_Learning_Team_3_Final_Report_With_Call_Evidence(1).docx, Section 11 Managerial Recommendations and Conclusion.
[/Sources]
Speaker cue:
Close on the distinction between launch success and durable portfolio success. Invite questions on the evidence, proposed roadmap and metric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MGI_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sv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Relationship Id="rId14" Type="http://schemas.openxmlformats.org/officeDocument/2006/relationships/image" Target="../media/image4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13" Type="http://schemas.openxmlformats.org/officeDocument/2006/relationships/image" Target="../media/image59.png"/><Relationship Id="rId18" Type="http://schemas.openxmlformats.org/officeDocument/2006/relationships/image" Target="../media/image6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svg"/><Relationship Id="rId17" Type="http://schemas.openxmlformats.org/officeDocument/2006/relationships/image" Target="../media/image6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sv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svg"/><Relationship Id="rId4" Type="http://schemas.openxmlformats.org/officeDocument/2006/relationships/image" Target="../media/image50.svg"/><Relationship Id="rId9" Type="http://schemas.openxmlformats.org/officeDocument/2006/relationships/image" Target="../media/image55.png"/><Relationship Id="rId14" Type="http://schemas.openxmlformats.org/officeDocument/2006/relationships/image" Target="../media/image6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13" Type="http://schemas.openxmlformats.org/officeDocument/2006/relationships/image" Target="../media/image73.png"/><Relationship Id="rId18" Type="http://schemas.openxmlformats.org/officeDocument/2006/relationships/image" Target="../media/image36.svg"/><Relationship Id="rId3" Type="http://schemas.openxmlformats.org/officeDocument/2006/relationships/image" Target="../media/image65.png"/><Relationship Id="rId7" Type="http://schemas.openxmlformats.org/officeDocument/2006/relationships/image" Target="../media/image67.png"/><Relationship Id="rId12" Type="http://schemas.openxmlformats.org/officeDocument/2006/relationships/image" Target="../media/image72.sv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6.svg"/><Relationship Id="rId20" Type="http://schemas.openxmlformats.org/officeDocument/2006/relationships/image" Target="../media/image7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svg"/><Relationship Id="rId11" Type="http://schemas.openxmlformats.org/officeDocument/2006/relationships/image" Target="../media/image71.png"/><Relationship Id="rId5" Type="http://schemas.openxmlformats.org/officeDocument/2006/relationships/image" Target="../media/image51.png"/><Relationship Id="rId15" Type="http://schemas.openxmlformats.org/officeDocument/2006/relationships/image" Target="../media/image75.png"/><Relationship Id="rId10" Type="http://schemas.openxmlformats.org/officeDocument/2006/relationships/image" Target="../media/image70.svg"/><Relationship Id="rId19" Type="http://schemas.openxmlformats.org/officeDocument/2006/relationships/image" Target="../media/image77.png"/><Relationship Id="rId4" Type="http://schemas.openxmlformats.org/officeDocument/2006/relationships/image" Target="../media/image66.svg"/><Relationship Id="rId9" Type="http://schemas.openxmlformats.org/officeDocument/2006/relationships/image" Target="../media/image69.png"/><Relationship Id="rId14" Type="http://schemas.openxmlformats.org/officeDocument/2006/relationships/image" Target="../media/image7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svg"/><Relationship Id="rId13" Type="http://schemas.openxmlformats.org/officeDocument/2006/relationships/image" Target="../media/image53.png"/><Relationship Id="rId18" Type="http://schemas.openxmlformats.org/officeDocument/2006/relationships/image" Target="../media/image90.svg"/><Relationship Id="rId3" Type="http://schemas.openxmlformats.org/officeDocument/2006/relationships/image" Target="../media/image79.png"/><Relationship Id="rId7" Type="http://schemas.openxmlformats.org/officeDocument/2006/relationships/image" Target="../media/image81.png"/><Relationship Id="rId12" Type="http://schemas.openxmlformats.org/officeDocument/2006/relationships/image" Target="../media/image86.svg"/><Relationship Id="rId17" Type="http://schemas.openxmlformats.org/officeDocument/2006/relationships/image" Target="../media/image8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88.svg"/><Relationship Id="rId20" Type="http://schemas.openxmlformats.org/officeDocument/2006/relationships/image" Target="../media/image9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11" Type="http://schemas.openxmlformats.org/officeDocument/2006/relationships/image" Target="../media/image85.png"/><Relationship Id="rId5" Type="http://schemas.openxmlformats.org/officeDocument/2006/relationships/image" Target="../media/image27.png"/><Relationship Id="rId15" Type="http://schemas.openxmlformats.org/officeDocument/2006/relationships/image" Target="../media/image87.png"/><Relationship Id="rId10" Type="http://schemas.openxmlformats.org/officeDocument/2006/relationships/image" Target="../media/image84.svg"/><Relationship Id="rId19" Type="http://schemas.openxmlformats.org/officeDocument/2006/relationships/image" Target="../media/image91.png"/><Relationship Id="rId4" Type="http://schemas.openxmlformats.org/officeDocument/2006/relationships/image" Target="../media/image80.svg"/><Relationship Id="rId9" Type="http://schemas.openxmlformats.org/officeDocument/2006/relationships/image" Target="../media/image83.png"/><Relationship Id="rId14" Type="http://schemas.openxmlformats.org/officeDocument/2006/relationships/image" Target="../media/image5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13" Type="http://schemas.openxmlformats.org/officeDocument/2006/relationships/image" Target="../media/image99.png"/><Relationship Id="rId3" Type="http://schemas.openxmlformats.org/officeDocument/2006/relationships/image" Target="../media/image17.png"/><Relationship Id="rId7" Type="http://schemas.openxmlformats.org/officeDocument/2006/relationships/image" Target="../media/image87.png"/><Relationship Id="rId12" Type="http://schemas.openxmlformats.org/officeDocument/2006/relationships/image" Target="../media/image9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svg"/><Relationship Id="rId11" Type="http://schemas.openxmlformats.org/officeDocument/2006/relationships/image" Target="../media/image97.png"/><Relationship Id="rId5" Type="http://schemas.openxmlformats.org/officeDocument/2006/relationships/image" Target="../media/image93.png"/><Relationship Id="rId10" Type="http://schemas.openxmlformats.org/officeDocument/2006/relationships/image" Target="../media/image96.svg"/><Relationship Id="rId4" Type="http://schemas.openxmlformats.org/officeDocument/2006/relationships/image" Target="../media/image18.svg"/><Relationship Id="rId9" Type="http://schemas.openxmlformats.org/officeDocument/2006/relationships/image" Target="../media/image95.png"/><Relationship Id="rId14" Type="http://schemas.openxmlformats.org/officeDocument/2006/relationships/image" Target="../media/image10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2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3A62E"/>
          </a:solidFill>
          <a:ln w="12700">
            <a:solidFill>
              <a:srgbClr val="D3A6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749808"/>
            <a:ext cx="3246120" cy="3246120"/>
          </a:xfrm>
          <a:prstGeom prst="ellipse">
            <a:avLst/>
          </a:prstGeom>
          <a:solidFill>
            <a:srgbClr val="2F6FA3">
              <a:alpha val="37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7112" y="1810512"/>
            <a:ext cx="2331720" cy="2331720"/>
          </a:xfrm>
          <a:prstGeom prst="ellipse">
            <a:avLst/>
          </a:prstGeom>
          <a:solidFill>
            <a:srgbClr val="D3A62E">
              <a:alpha val="28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3346704"/>
            <a:ext cx="1901952" cy="1901952"/>
          </a:xfrm>
          <a:prstGeom prst="ellipse">
            <a:avLst/>
          </a:prstGeom>
          <a:solidFill>
            <a:srgbClr val="167D7F">
              <a:alpha val="3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85216"/>
            <a:ext cx="3200400" cy="310896"/>
          </a:xfrm>
          <a:prstGeom prst="roundRect">
            <a:avLst>
              <a:gd name="adj" fmla="val 23529"/>
            </a:avLst>
          </a:prstGeom>
          <a:solidFill>
            <a:srgbClr val="D3A62E"/>
          </a:solidFill>
          <a:ln w="12700">
            <a:solidFill>
              <a:srgbClr val="D3A62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03504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kern="0" spc="30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MANAGEMENT FOR GROWTH &amp; INNOVATION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658368" y="1225296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Management</a:t>
            </a:r>
            <a:endParaRPr lang="en-US" sz="3050" dirty="0"/>
          </a:p>
          <a:p>
            <a:pPr marL="0" indent="0" algn="l">
              <a:buNone/>
            </a:pPr>
            <a:r>
              <a:rPr lang="en-US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 in Personal Lending</a:t>
            </a:r>
            <a:endParaRPr lang="en-US" sz="3050" dirty="0"/>
          </a:p>
        </p:txBody>
      </p:sp>
      <p:sp>
        <p:nvSpPr>
          <p:cNvPr id="9" name="Text 7"/>
          <p:cNvSpPr/>
          <p:nvPr/>
        </p:nvSpPr>
        <p:spPr>
          <a:xfrm>
            <a:off x="676656" y="278892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20" dirty="0">
                <a:solidFill>
                  <a:srgbClr val="D8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interview-based analysis of Poonawalla Fincorp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676656" y="3310128"/>
            <a:ext cx="1005840" cy="0"/>
          </a:xfrm>
          <a:prstGeom prst="line">
            <a:avLst/>
          </a:prstGeom>
          <a:noFill/>
          <a:ln w="38100">
            <a:solidFill>
              <a:srgbClr val="D3A6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3529584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Interviewee  </a:t>
            </a: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 Gaurav Banani, Product Manager – Personal Loans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76656" y="395935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by  </a:t>
            </a:r>
            <a:r>
              <a:rPr lang="en-US" sz="14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Team 3</a:t>
            </a:r>
            <a:r>
              <a:rPr lang="en-US" sz="1420" dirty="0">
                <a:solidFill>
                  <a:srgbClr val="6C83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420" b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to  </a:t>
            </a:r>
            <a:r>
              <a:rPr lang="en-US" sz="14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Karan Grover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676656" y="4608576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Dhananjay Singh  •  Kartikey Gaur  •  Shivam Kumar  •  Abhiroop Banerjee  •  Yash Arora</a:t>
            </a:r>
            <a:endParaRPr lang="en-US" sz="1170" dirty="0"/>
          </a:p>
        </p:txBody>
      </p:sp>
      <p:sp>
        <p:nvSpPr>
          <p:cNvPr id="14" name="Shape 12"/>
          <p:cNvSpPr/>
          <p:nvPr/>
        </p:nvSpPr>
        <p:spPr>
          <a:xfrm>
            <a:off x="7936992" y="135331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10144" y="1371600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kern="0" spc="30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VALUE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9189720" y="2359152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62872" y="237744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kern="0" spc="30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ECONOMICS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699248" y="5321808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5340096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kern="0" spc="30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COMPLIANCE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76656" y="61447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FIIB • Academic Year 2026–27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3A62E"/>
          </a:solidFill>
          <a:ln w="12700">
            <a:solidFill>
              <a:srgbClr val="D3A6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kern="0" spc="110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RESEARCH DESIGN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9674352" y="1188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E9F2FA"/>
          </a:solidFill>
          <a:ln w="12700">
            <a:solidFill>
              <a:srgbClr val="E9F2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47504" y="137160"/>
            <a:ext cx="1728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30" dirty="0">
                <a:solidFill>
                  <a:srgbClr val="2F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EVIDENCE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11686032" y="14630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27D98"/>
                </a:solidFill>
              </a:rPr>
              <a:t>02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420624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interview, structured analysis, traceable conclusions</a:t>
            </a:r>
            <a:endParaRPr lang="en-US" sz="245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3063240" cy="5138928"/>
          </a:xfrm>
          <a:prstGeom prst="roundRect">
            <a:avLst>
              <a:gd name="adj" fmla="val 2388"/>
            </a:avLst>
          </a:prstGeom>
          <a:solidFill>
            <a:srgbClr val="0B223D"/>
          </a:solidFill>
          <a:ln w="12700">
            <a:solidFill>
              <a:srgbClr val="0B223D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137160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1773936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1993392" y="19202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50392" y="252374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Semi-structured recorded interview</a:t>
            </a:r>
            <a:endParaRPr lang="en-US" sz="1520" dirty="0"/>
          </a:p>
        </p:txBody>
      </p:sp>
      <p:sp>
        <p:nvSpPr>
          <p:cNvPr id="13" name="Text 10"/>
          <p:cNvSpPr/>
          <p:nvPr/>
        </p:nvSpPr>
        <p:spPr>
          <a:xfrm>
            <a:off x="850392" y="3090672"/>
            <a:ext cx="21762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D8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focus: personal-loan portfolio economics, channel management and lifecycle decisions.</a:t>
            </a:r>
            <a:endParaRPr lang="en-US" sz="126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4005072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70432" y="39867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interview</a:t>
            </a:r>
            <a:endParaRPr lang="en-US" sz="116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8680" y="4398264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70432" y="43799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extraction</a:t>
            </a:r>
            <a:endParaRPr lang="en-US" sz="116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8680" y="4791456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70432" y="47731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PMGI framework mapping</a:t>
            </a:r>
            <a:endParaRPr lang="en-US" sz="116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8680" y="5184648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70432" y="51663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Managerial recommendations</a:t>
            </a:r>
            <a:endParaRPr lang="en-US" sz="1160" dirty="0"/>
          </a:p>
        </p:txBody>
      </p:sp>
      <p:sp>
        <p:nvSpPr>
          <p:cNvPr id="22" name="Shape 15"/>
          <p:cNvSpPr/>
          <p:nvPr/>
        </p:nvSpPr>
        <p:spPr>
          <a:xfrm>
            <a:off x="841248" y="5504688"/>
            <a:ext cx="987552" cy="274320"/>
          </a:xfrm>
          <a:prstGeom prst="roundRect">
            <a:avLst>
              <a:gd name="adj" fmla="val 26667"/>
            </a:avLst>
          </a:prstGeom>
          <a:solidFill>
            <a:srgbClr val="2F6FA3"/>
          </a:solidFill>
          <a:ln w="12700">
            <a:solidFill>
              <a:srgbClr val="2F6FA3">
                <a:alpha val="0"/>
              </a:srgbClr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914400" y="552297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860" dirty="0"/>
          </a:p>
        </p:txBody>
      </p:sp>
      <p:sp>
        <p:nvSpPr>
          <p:cNvPr id="24" name="Text 17"/>
          <p:cNvSpPr/>
          <p:nvPr/>
        </p:nvSpPr>
        <p:spPr>
          <a:xfrm>
            <a:off x="1938528" y="54955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8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statements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841248" y="5879592"/>
            <a:ext cx="1325880" cy="274320"/>
          </a:xfrm>
          <a:prstGeom prst="roundRect">
            <a:avLst>
              <a:gd name="adj" fmla="val 26667"/>
            </a:avLst>
          </a:prstGeom>
          <a:solidFill>
            <a:srgbClr val="D3A62E"/>
          </a:solidFill>
          <a:ln w="12700">
            <a:solidFill>
              <a:srgbClr val="D3A62E">
                <a:alpha val="0"/>
              </a:srgbClr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914400" y="5897880"/>
            <a:ext cx="1179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30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ANALYSIS</a:t>
            </a:r>
            <a:endParaRPr lang="en-US" sz="820" dirty="0"/>
          </a:p>
        </p:txBody>
      </p:sp>
      <p:sp>
        <p:nvSpPr>
          <p:cNvPr id="27" name="Text 20"/>
          <p:cNvSpPr/>
          <p:nvPr/>
        </p:nvSpPr>
        <p:spPr>
          <a:xfrm>
            <a:off x="2267712" y="58704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D8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Roadmap, metrics &amp; experiments</a:t>
            </a:r>
            <a:endParaRPr lang="en-US" sz="940" dirty="0"/>
          </a:p>
        </p:txBody>
      </p:sp>
      <p:sp>
        <p:nvSpPr>
          <p:cNvPr id="28" name="Shape 21"/>
          <p:cNvSpPr/>
          <p:nvPr/>
        </p:nvSpPr>
        <p:spPr>
          <a:xfrm>
            <a:off x="3822192" y="1078992"/>
            <a:ext cx="7845552" cy="3044952"/>
          </a:xfrm>
          <a:prstGeom prst="roundRect">
            <a:avLst>
              <a:gd name="adj" fmla="val 24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29" name="Image 5" descr="/mnt/data/Screenshot 2026-08-16 124704.png"/>
          <p:cNvPicPr>
            <a:picLocks noChangeAspect="1"/>
          </p:cNvPicPr>
          <p:nvPr/>
        </p:nvPicPr>
        <p:blipFill>
          <a:blip r:embed="rId13"/>
          <a:srcRect t="3838" b="3838"/>
          <a:stretch/>
        </p:blipFill>
        <p:spPr>
          <a:xfrm>
            <a:off x="3941064" y="1197864"/>
            <a:ext cx="5916168" cy="2505456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10040112" y="1197864"/>
            <a:ext cx="1499616" cy="2505456"/>
          </a:xfrm>
          <a:prstGeom prst="roundRect">
            <a:avLst>
              <a:gd name="adj" fmla="val 4878"/>
            </a:avLst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pic>
        <p:nvPicPr>
          <p:cNvPr id="31" name="Image 6" descr="/mnt/data/Gemini_Generated_Image_qdly6iqdly6iqdly(1)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49735" y="1261872"/>
            <a:ext cx="1080369" cy="237744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3968496" y="374904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E9F2FA"/>
          </a:solidFill>
          <a:ln w="12700">
            <a:solidFill>
              <a:srgbClr val="E9F2FA">
                <a:alpha val="0"/>
              </a:srgbClr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4041648" y="376732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kern="0" spc="30" dirty="0">
                <a:solidFill>
                  <a:srgbClr val="2F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MEET RECORDING</a:t>
            </a:r>
            <a:endParaRPr lang="en-US" sz="840" dirty="0"/>
          </a:p>
        </p:txBody>
      </p:sp>
      <p:sp>
        <p:nvSpPr>
          <p:cNvPr id="34" name="Shape 25"/>
          <p:cNvSpPr/>
          <p:nvPr/>
        </p:nvSpPr>
        <p:spPr>
          <a:xfrm>
            <a:off x="10049256" y="3749040"/>
            <a:ext cx="1444752" cy="256032"/>
          </a:xfrm>
          <a:prstGeom prst="roundRect">
            <a:avLst>
              <a:gd name="adj" fmla="val 28571"/>
            </a:avLst>
          </a:prstGeom>
          <a:solidFill>
            <a:srgbClr val="FFF4D6"/>
          </a:solidFill>
          <a:ln w="12700">
            <a:solidFill>
              <a:srgbClr val="FFF4D6">
                <a:alpha val="0"/>
              </a:srgbClr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10122408" y="376732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kern="0" spc="30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40:00 CALL LOG</a:t>
            </a:r>
            <a:endParaRPr lang="en-US" sz="840" dirty="0"/>
          </a:p>
        </p:txBody>
      </p:sp>
      <p:sp>
        <p:nvSpPr>
          <p:cNvPr id="36" name="Shape 27"/>
          <p:cNvSpPr/>
          <p:nvPr/>
        </p:nvSpPr>
        <p:spPr>
          <a:xfrm>
            <a:off x="3822192" y="4343400"/>
            <a:ext cx="7845552" cy="1810512"/>
          </a:xfrm>
          <a:prstGeom prst="roundRect">
            <a:avLst>
              <a:gd name="adj" fmla="val 4040"/>
            </a:avLst>
          </a:prstGeom>
          <a:solidFill>
            <a:srgbClr val="FFF4D6"/>
          </a:solidFill>
          <a:ln w="12700">
            <a:solidFill>
              <a:srgbClr val="E8C95D"/>
            </a:solidFill>
            <a:prstDash val="solid"/>
          </a:ln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96512" y="4654296"/>
            <a:ext cx="310896" cy="31089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4553712" y="45537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80" b="1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boundary</a:t>
            </a:r>
            <a:endParaRPr lang="en-US" sz="1480" dirty="0"/>
          </a:p>
        </p:txBody>
      </p:sp>
      <p:sp>
        <p:nvSpPr>
          <p:cNvPr id="39" name="Text 29"/>
          <p:cNvSpPr/>
          <p:nvPr/>
        </p:nvSpPr>
        <p:spPr>
          <a:xfrm>
            <a:off x="4553712" y="4882896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evidence is strongest on budgeting, P&amp;L, channel payouts and portfolio monitoring. Roadmap, metrics and experiments are explicitly presented as Learning Team 3 proposals.</a:t>
            </a:r>
            <a:endParaRPr lang="en-US" sz="1320" dirty="0"/>
          </a:p>
        </p:txBody>
      </p:sp>
      <p:sp>
        <p:nvSpPr>
          <p:cNvPr id="40" name="Shape 30"/>
          <p:cNvSpPr/>
          <p:nvPr/>
        </p:nvSpPr>
        <p:spPr>
          <a:xfrm>
            <a:off x="502920" y="6455664"/>
            <a:ext cx="11137392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502920" y="6510528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3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3A62E"/>
          </a:solidFill>
          <a:ln w="12700">
            <a:solidFill>
              <a:srgbClr val="D3A6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kern="0" spc="110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ROLE CONTEXT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9674352" y="1188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E9F2FA"/>
          </a:solidFill>
          <a:ln w="12700">
            <a:solidFill>
              <a:srgbClr val="E9F2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47504" y="137160"/>
            <a:ext cx="1728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30" dirty="0">
                <a:solidFill>
                  <a:srgbClr val="2F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EVIDENCE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11686032" y="14630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27D98"/>
                </a:solidFill>
              </a:rPr>
              <a:t>03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420624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lending PM manages a portfolio system—not only a feature backlog</a:t>
            </a:r>
            <a:endParaRPr lang="en-US" sz="2450" dirty="0"/>
          </a:p>
        </p:txBody>
      </p:sp>
      <p:sp>
        <p:nvSpPr>
          <p:cNvPr id="8" name="Shape 6"/>
          <p:cNvSpPr/>
          <p:nvPr/>
        </p:nvSpPr>
        <p:spPr>
          <a:xfrm>
            <a:off x="4919472" y="2816352"/>
            <a:ext cx="0" cy="0"/>
          </a:xfrm>
          <a:prstGeom prst="line">
            <a:avLst/>
          </a:prstGeom>
          <a:noFill/>
          <a:ln w="17780">
            <a:solidFill>
              <a:srgbClr val="A9B8C7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69480" y="2816352"/>
            <a:ext cx="1060704" cy="0"/>
          </a:xfrm>
          <a:prstGeom prst="line">
            <a:avLst/>
          </a:prstGeom>
          <a:noFill/>
          <a:ln w="17780">
            <a:solidFill>
              <a:srgbClr val="A9B8C7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9472" y="3968496"/>
            <a:ext cx="0" cy="649224"/>
          </a:xfrm>
          <a:prstGeom prst="line">
            <a:avLst/>
          </a:prstGeom>
          <a:noFill/>
          <a:ln w="17780">
            <a:solidFill>
              <a:srgbClr val="A9B8C7">
                <a:alpha val="8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69480" y="3968496"/>
            <a:ext cx="1060704" cy="649224"/>
          </a:xfrm>
          <a:prstGeom prst="line">
            <a:avLst/>
          </a:prstGeom>
          <a:noFill/>
          <a:ln w="17780">
            <a:solidFill>
              <a:srgbClr val="A9B8C7">
                <a:alpha val="8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9472" y="2212848"/>
            <a:ext cx="2350008" cy="2350008"/>
          </a:xfrm>
          <a:prstGeom prst="ellipse">
            <a:avLst/>
          </a:prstGeom>
          <a:solidFill>
            <a:srgbClr val="183B64"/>
          </a:solidFill>
          <a:ln w="38100">
            <a:solidFill>
              <a:srgbClr val="D3A62E"/>
            </a:solidFill>
            <a:prstDash val="solid"/>
          </a:ln>
          <a:effectLst>
            <a:outerShdw blurRad="19050" dist="889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0136" y="2633472"/>
            <a:ext cx="868680" cy="8686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285232" y="3566160"/>
            <a:ext cx="16184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560" dirty="0"/>
          </a:p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560" dirty="0"/>
          </a:p>
        </p:txBody>
      </p:sp>
      <p:sp>
        <p:nvSpPr>
          <p:cNvPr id="15" name="Shape 12"/>
          <p:cNvSpPr/>
          <p:nvPr/>
        </p:nvSpPr>
        <p:spPr>
          <a:xfrm>
            <a:off x="640080" y="1353312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1609344"/>
            <a:ext cx="420624" cy="4206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26464" y="151790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&amp; P&amp;L</a:t>
            </a:r>
            <a:endParaRPr lang="en-US" sz="1520" dirty="0"/>
          </a:p>
        </p:txBody>
      </p:sp>
      <p:sp>
        <p:nvSpPr>
          <p:cNvPr id="18" name="Text 14"/>
          <p:cNvSpPr/>
          <p:nvPr/>
        </p:nvSpPr>
        <p:spPr>
          <a:xfrm>
            <a:off x="1426464" y="186537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approved budgets into operating targets and planned profitability.</a:t>
            </a:r>
            <a:endParaRPr lang="en-US" sz="1130" dirty="0"/>
          </a:p>
        </p:txBody>
      </p:sp>
      <p:sp>
        <p:nvSpPr>
          <p:cNvPr id="19" name="Shape 15"/>
          <p:cNvSpPr/>
          <p:nvPr/>
        </p:nvSpPr>
        <p:spPr>
          <a:xfrm>
            <a:off x="8330184" y="1353312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58784" y="1609344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16568" y="151790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Targets</a:t>
            </a:r>
            <a:endParaRPr lang="en-US" sz="1520" dirty="0"/>
          </a:p>
        </p:txBody>
      </p:sp>
      <p:sp>
        <p:nvSpPr>
          <p:cNvPr id="22" name="Text 17"/>
          <p:cNvSpPr/>
          <p:nvPr/>
        </p:nvSpPr>
        <p:spPr>
          <a:xfrm>
            <a:off x="9116568" y="186537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manpower and channel capacity with annual growth outcomes.</a:t>
            </a:r>
            <a:endParaRPr lang="en-US" sz="1130" dirty="0"/>
          </a:p>
        </p:txBody>
      </p:sp>
      <p:sp>
        <p:nvSpPr>
          <p:cNvPr id="23" name="Shape 18"/>
          <p:cNvSpPr/>
          <p:nvPr/>
        </p:nvSpPr>
        <p:spPr>
          <a:xfrm>
            <a:off x="640080" y="4096512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8680" y="4352544"/>
            <a:ext cx="420624" cy="4206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26464" y="426110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Payouts</a:t>
            </a:r>
            <a:endParaRPr lang="en-US" sz="1520" dirty="0"/>
          </a:p>
        </p:txBody>
      </p:sp>
      <p:sp>
        <p:nvSpPr>
          <p:cNvPr id="26" name="Text 20"/>
          <p:cNvSpPr/>
          <p:nvPr/>
        </p:nvSpPr>
        <p:spPr>
          <a:xfrm>
            <a:off x="1426464" y="460857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acquisition economics and the quality of sourced business.</a:t>
            </a:r>
            <a:endParaRPr lang="en-US" sz="1130" dirty="0"/>
          </a:p>
        </p:txBody>
      </p:sp>
      <p:sp>
        <p:nvSpPr>
          <p:cNvPr id="27" name="Shape 21"/>
          <p:cNvSpPr/>
          <p:nvPr/>
        </p:nvSpPr>
        <p:spPr>
          <a:xfrm>
            <a:off x="8330184" y="4096512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58784" y="4352544"/>
            <a:ext cx="420624" cy="42062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116568" y="426110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Incentives</a:t>
            </a:r>
            <a:endParaRPr lang="en-US" sz="1520" dirty="0"/>
          </a:p>
        </p:txBody>
      </p:sp>
      <p:sp>
        <p:nvSpPr>
          <p:cNvPr id="30" name="Text 23"/>
          <p:cNvSpPr/>
          <p:nvPr/>
        </p:nvSpPr>
        <p:spPr>
          <a:xfrm>
            <a:off x="9116568" y="460857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field behaviour with portfolio and business objectives.</a:t>
            </a:r>
            <a:endParaRPr lang="en-US" sz="1130" dirty="0"/>
          </a:p>
        </p:txBody>
      </p:sp>
      <p:sp>
        <p:nvSpPr>
          <p:cNvPr id="31" name="Shape 24"/>
          <p:cNvSpPr/>
          <p:nvPr/>
        </p:nvSpPr>
        <p:spPr>
          <a:xfrm>
            <a:off x="4498848" y="4617720"/>
            <a:ext cx="3200400" cy="1216152"/>
          </a:xfrm>
          <a:prstGeom prst="roundRect">
            <a:avLst>
              <a:gd name="adj" fmla="val 6015"/>
            </a:avLst>
          </a:prstGeom>
          <a:solidFill>
            <a:srgbClr val="E7F5F3"/>
          </a:solidFill>
          <a:ln w="12700">
            <a:solidFill>
              <a:srgbClr val="A7D9D2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27448" y="4873752"/>
            <a:ext cx="420624" cy="42062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85232" y="478231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Cross-functional Governance</a:t>
            </a:r>
            <a:endParaRPr lang="en-US" sz="1520" dirty="0"/>
          </a:p>
        </p:txBody>
      </p:sp>
      <p:sp>
        <p:nvSpPr>
          <p:cNvPr id="34" name="Text 26"/>
          <p:cNvSpPr/>
          <p:nvPr/>
        </p:nvSpPr>
        <p:spPr>
          <a:xfrm>
            <a:off x="5285232" y="5129784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policy, credit, operations, technology and servicing.</a:t>
            </a:r>
            <a:endParaRPr lang="en-US" sz="1130" dirty="0"/>
          </a:p>
        </p:txBody>
      </p:sp>
      <p:sp>
        <p:nvSpPr>
          <p:cNvPr id="35" name="Shape 27"/>
          <p:cNvSpPr/>
          <p:nvPr/>
        </p:nvSpPr>
        <p:spPr>
          <a:xfrm>
            <a:off x="4032504" y="1069848"/>
            <a:ext cx="4123944" cy="585216"/>
          </a:xfrm>
          <a:prstGeom prst="roundRect">
            <a:avLst>
              <a:gd name="adj" fmla="val 12500"/>
            </a:avLst>
          </a:prstGeom>
          <a:solidFill>
            <a:srgbClr val="FFF4D6"/>
          </a:solidFill>
          <a:ln w="12700">
            <a:solidFill>
              <a:srgbClr val="D3A62E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4251960" y="1152144"/>
            <a:ext cx="3675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pricing, incentives and credit quality are product decisions.</a:t>
            </a:r>
            <a:endParaRPr lang="en-US" sz="1270" dirty="0"/>
          </a:p>
        </p:txBody>
      </p:sp>
      <p:sp>
        <p:nvSpPr>
          <p:cNvPr id="37" name="Shape 29"/>
          <p:cNvSpPr/>
          <p:nvPr/>
        </p:nvSpPr>
        <p:spPr>
          <a:xfrm>
            <a:off x="502920" y="6455664"/>
            <a:ext cx="11137392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502920" y="6510528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3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3A62E"/>
          </a:solidFill>
          <a:ln w="12700">
            <a:solidFill>
              <a:srgbClr val="D3A6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kern="0" spc="110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OPPORTUNITY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9674352" y="1188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E9F2FA"/>
          </a:solidFill>
          <a:ln w="12700">
            <a:solidFill>
              <a:srgbClr val="E9F2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47504" y="137160"/>
            <a:ext cx="1728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30" dirty="0">
                <a:solidFill>
                  <a:srgbClr val="2F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EVIDENCE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11686032" y="14630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27D98"/>
                </a:solidFill>
              </a:rPr>
              <a:t>04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420624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 category becomes actionable only after segment and problem choices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621792" y="11338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kern="0" spc="110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LADDER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21792" y="1517904"/>
            <a:ext cx="4800600" cy="795528"/>
          </a:xfrm>
          <a:prstGeom prst="roundRect">
            <a:avLst>
              <a:gd name="adj" fmla="val 6897"/>
            </a:avLst>
          </a:prstGeom>
          <a:solidFill>
            <a:srgbClr val="DCE8F3"/>
          </a:solidFill>
          <a:ln w="12700">
            <a:solidFill>
              <a:srgbClr val="DCE8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00200"/>
            <a:ext cx="12252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₹297L Cr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240280" y="1664208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Indian lending market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621792" y="2441448"/>
            <a:ext cx="4005072" cy="795528"/>
          </a:xfrm>
          <a:prstGeom prst="roundRect">
            <a:avLst>
              <a:gd name="adj" fmla="val 6897"/>
            </a:avLst>
          </a:prstGeom>
          <a:solidFill>
            <a:srgbClr val="AFC9DF"/>
          </a:solidFill>
          <a:ln w="12700">
            <a:solidFill>
              <a:srgbClr val="AFC9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523744"/>
            <a:ext cx="12252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₹156L Cr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240280" y="2587752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lending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621792" y="3364992"/>
            <a:ext cx="3145536" cy="914400"/>
          </a:xfrm>
          <a:prstGeom prst="roundRect">
            <a:avLst>
              <a:gd name="adj" fmla="val 6000"/>
            </a:avLst>
          </a:prstGeom>
          <a:solidFill>
            <a:srgbClr val="183B64"/>
          </a:solidFill>
          <a:ln w="12700">
            <a:solidFill>
              <a:srgbClr val="183B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447288"/>
            <a:ext cx="12252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₹16L Cr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240280" y="351129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personal loans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3493008" y="4443984"/>
            <a:ext cx="1901952" cy="310896"/>
          </a:xfrm>
          <a:prstGeom prst="roundRect">
            <a:avLst>
              <a:gd name="adj" fmla="val 23529"/>
            </a:avLst>
          </a:prstGeom>
          <a:solidFill>
            <a:srgbClr val="D3A62E"/>
          </a:solidFill>
          <a:ln w="12700">
            <a:solidFill>
              <a:srgbClr val="D3A62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446227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kern="0" spc="30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15–20% ANNUAL GROWTH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658368" y="45537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estimates — not independently verified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60720" y="1335024"/>
            <a:ext cx="5806440" cy="1883664"/>
          </a:xfrm>
          <a:prstGeom prst="roundRect">
            <a:avLst>
              <a:gd name="adj" fmla="val 3883"/>
            </a:avLst>
          </a:prstGeom>
          <a:solidFill>
            <a:srgbClr val="E9F2FA"/>
          </a:solidFill>
          <a:ln w="12700">
            <a:solidFill>
              <a:srgbClr val="BBD4E7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6480" y="1719072"/>
            <a:ext cx="530352" cy="53035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839712" y="1572768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Beachhead segment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6839712" y="199339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Salaried employees in large private-sector, public-sector and government organisations.</a:t>
            </a:r>
            <a:endParaRPr lang="en-US" sz="1420" dirty="0"/>
          </a:p>
        </p:txBody>
      </p:sp>
      <p:sp>
        <p:nvSpPr>
          <p:cNvPr id="25" name="Shape 22"/>
          <p:cNvSpPr/>
          <p:nvPr/>
        </p:nvSpPr>
        <p:spPr>
          <a:xfrm>
            <a:off x="6830568" y="2706624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03720" y="2724912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kern="0" spc="30" dirty="0">
                <a:solidFill>
                  <a:srgbClr val="2F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INCOME</a:t>
            </a:r>
            <a:endParaRPr lang="en-US" sz="840" dirty="0"/>
          </a:p>
        </p:txBody>
      </p:sp>
      <p:sp>
        <p:nvSpPr>
          <p:cNvPr id="27" name="Shape 24"/>
          <p:cNvSpPr/>
          <p:nvPr/>
        </p:nvSpPr>
        <p:spPr>
          <a:xfrm>
            <a:off x="8101584" y="2706624"/>
            <a:ext cx="1572768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74736" y="272491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b="1" kern="0" spc="30" dirty="0">
                <a:solidFill>
                  <a:srgbClr val="2F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EMPLOYMENT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9802368" y="2706624"/>
            <a:ext cx="1408176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875520" y="272491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30" dirty="0">
                <a:solidFill>
                  <a:srgbClr val="2F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DECISIONING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5760720" y="3465576"/>
            <a:ext cx="5806440" cy="2313432"/>
          </a:xfrm>
          <a:prstGeom prst="roundRect">
            <a:avLst>
              <a:gd name="adj" fmla="val 3162"/>
            </a:avLst>
          </a:prstGeom>
          <a:solidFill>
            <a:srgbClr val="FFF4D6"/>
          </a:solidFill>
          <a:ln w="12700">
            <a:solidFill>
              <a:srgbClr val="E9CE74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9048" y="3813048"/>
            <a:ext cx="530352" cy="53035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839712" y="3648456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job-to-be-done</a:t>
            </a:r>
            <a:endParaRPr lang="en-US" sz="1650" dirty="0"/>
          </a:p>
        </p:txBody>
      </p:sp>
      <p:sp>
        <p:nvSpPr>
          <p:cNvPr id="34" name="Text 30"/>
          <p:cNvSpPr/>
          <p:nvPr/>
        </p:nvSpPr>
        <p:spPr>
          <a:xfrm>
            <a:off x="6821424" y="4133088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80" b="1" i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“Help me combine multiple loan obligations into one manageable monthly payment — without a slow, confusing or opaque process.”</a:t>
            </a:r>
            <a:endParaRPr lang="en-US" sz="1580" dirty="0"/>
          </a:p>
        </p:txBody>
      </p:sp>
      <p:sp>
        <p:nvSpPr>
          <p:cNvPr id="35" name="Text 31"/>
          <p:cNvSpPr/>
          <p:nvPr/>
        </p:nvSpPr>
        <p:spPr>
          <a:xfrm>
            <a:off x="6821424" y="517550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should be tied to channel capacity, risk appetite and unit economics—not market size alone.</a:t>
            </a:r>
            <a:endParaRPr lang="en-US" sz="1080" dirty="0"/>
          </a:p>
        </p:txBody>
      </p:sp>
      <p:sp>
        <p:nvSpPr>
          <p:cNvPr id="36" name="Shape 32"/>
          <p:cNvSpPr/>
          <p:nvPr/>
        </p:nvSpPr>
        <p:spPr>
          <a:xfrm>
            <a:off x="502920" y="6455664"/>
            <a:ext cx="11137392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02920" y="6510528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3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3A62E"/>
          </a:solidFill>
          <a:ln w="12700">
            <a:solidFill>
              <a:srgbClr val="D3A6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kern="0" spc="110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VALUE PROPOSITION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9674352" y="1188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E9F2FA"/>
          </a:solidFill>
          <a:ln w="12700">
            <a:solidFill>
              <a:srgbClr val="E9F2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47504" y="137160"/>
            <a:ext cx="1728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30" dirty="0">
                <a:solidFill>
                  <a:srgbClr val="2F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EVIDENCE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11686032" y="14630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27D98"/>
                </a:solidFill>
              </a:rPr>
              <a:t>05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420624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multiple obligations to one transparent repayment plan</a:t>
            </a:r>
            <a:endParaRPr lang="en-US" sz="2450" dirty="0"/>
          </a:p>
        </p:txBody>
      </p:sp>
      <p:sp>
        <p:nvSpPr>
          <p:cNvPr id="8" name="Shape 6"/>
          <p:cNvSpPr/>
          <p:nvPr/>
        </p:nvSpPr>
        <p:spPr>
          <a:xfrm>
            <a:off x="566928" y="1307592"/>
            <a:ext cx="4160520" cy="4462272"/>
          </a:xfrm>
          <a:prstGeom prst="roundRect">
            <a:avLst>
              <a:gd name="adj" fmla="val 1758"/>
            </a:avLst>
          </a:prstGeom>
          <a:solidFill>
            <a:srgbClr val="FDECEC"/>
          </a:solidFill>
          <a:ln w="12700">
            <a:solidFill>
              <a:srgbClr val="F3B8B8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1572768"/>
            <a:ext cx="950976" cy="292608"/>
          </a:xfrm>
          <a:prstGeom prst="roundRect">
            <a:avLst>
              <a:gd name="adj" fmla="val 25000"/>
            </a:avLst>
          </a:prstGeom>
          <a:solidFill>
            <a:srgbClr val="C94B4B"/>
          </a:solidFill>
          <a:ln w="12700">
            <a:solidFill>
              <a:srgbClr val="C94B4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159105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896112" y="1993392"/>
            <a:ext cx="3456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lenders. Three due dates. Three servicing journeys.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2743200"/>
            <a:ext cx="331012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0C6C6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5568" y="2880360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90472" y="28254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A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2907792" y="280720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40" b="1" dirty="0">
                <a:solidFill>
                  <a:srgbClr val="C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₹4,000</a:t>
            </a:r>
            <a:endParaRPr lang="en-US" sz="1440" dirty="0"/>
          </a:p>
        </p:txBody>
      </p:sp>
      <p:sp>
        <p:nvSpPr>
          <p:cNvPr id="16" name="Shape 13"/>
          <p:cNvSpPr/>
          <p:nvPr/>
        </p:nvSpPr>
        <p:spPr>
          <a:xfrm>
            <a:off x="914400" y="3410712"/>
            <a:ext cx="331012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0C6C6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5568" y="3547872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90472" y="34930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B</a:t>
            </a:r>
            <a:endParaRPr lang="en-US" sz="1240" dirty="0"/>
          </a:p>
        </p:txBody>
      </p:sp>
      <p:sp>
        <p:nvSpPr>
          <p:cNvPr id="19" name="Text 15"/>
          <p:cNvSpPr/>
          <p:nvPr/>
        </p:nvSpPr>
        <p:spPr>
          <a:xfrm>
            <a:off x="2907792" y="347472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40" b="1" dirty="0">
                <a:solidFill>
                  <a:srgbClr val="C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₹10,000</a:t>
            </a:r>
            <a:endParaRPr lang="en-US" sz="1440" dirty="0"/>
          </a:p>
        </p:txBody>
      </p:sp>
      <p:sp>
        <p:nvSpPr>
          <p:cNvPr id="20" name="Shape 16"/>
          <p:cNvSpPr/>
          <p:nvPr/>
        </p:nvSpPr>
        <p:spPr>
          <a:xfrm>
            <a:off x="914400" y="4078224"/>
            <a:ext cx="331012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0C6C6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5568" y="4215384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90472" y="4160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C</a:t>
            </a:r>
            <a:endParaRPr lang="en-US" sz="1240" dirty="0"/>
          </a:p>
        </p:txBody>
      </p:sp>
      <p:sp>
        <p:nvSpPr>
          <p:cNvPr id="23" name="Text 18"/>
          <p:cNvSpPr/>
          <p:nvPr/>
        </p:nvSpPr>
        <p:spPr>
          <a:xfrm>
            <a:off x="2907792" y="414223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40" b="1" dirty="0">
                <a:solidFill>
                  <a:srgbClr val="C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₹5,000</a:t>
            </a:r>
            <a:endParaRPr lang="en-US" sz="1440" dirty="0"/>
          </a:p>
        </p:txBody>
      </p:sp>
      <p:sp>
        <p:nvSpPr>
          <p:cNvPr id="24" name="Text 19"/>
          <p:cNvSpPr/>
          <p:nvPr/>
        </p:nvSpPr>
        <p:spPr>
          <a:xfrm>
            <a:off x="914400" y="4855464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₹19,000</a:t>
            </a:r>
            <a:endParaRPr lang="en-US" sz="2800" dirty="0"/>
          </a:p>
        </p:txBody>
      </p:sp>
      <p:sp>
        <p:nvSpPr>
          <p:cNvPr id="25" name="Text 20"/>
          <p:cNvSpPr/>
          <p:nvPr/>
        </p:nvSpPr>
        <p:spPr>
          <a:xfrm>
            <a:off x="2560320" y="501091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b="1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monthly EMI</a:t>
            </a:r>
            <a:endParaRPr lang="en-US" sz="1120" dirty="0"/>
          </a:p>
        </p:txBody>
      </p:sp>
      <p:sp>
        <p:nvSpPr>
          <p:cNvPr id="26" name="Shape 21"/>
          <p:cNvSpPr/>
          <p:nvPr/>
        </p:nvSpPr>
        <p:spPr>
          <a:xfrm>
            <a:off x="5010912" y="2862072"/>
            <a:ext cx="1234440" cy="987552"/>
          </a:xfrm>
          <a:prstGeom prst="rightArrow">
            <a:avLst/>
          </a:prstGeom>
          <a:solidFill>
            <a:srgbClr val="D3A62E"/>
          </a:solidFill>
          <a:ln w="12700">
            <a:solidFill>
              <a:srgbClr val="D3A62E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029200" y="39867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kern="0" spc="80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</a:t>
            </a:r>
            <a:endParaRPr lang="en-US" sz="920" dirty="0"/>
          </a:p>
        </p:txBody>
      </p:sp>
      <p:sp>
        <p:nvSpPr>
          <p:cNvPr id="28" name="Shape 23"/>
          <p:cNvSpPr/>
          <p:nvPr/>
        </p:nvSpPr>
        <p:spPr>
          <a:xfrm>
            <a:off x="6455664" y="1307592"/>
            <a:ext cx="5157216" cy="4462272"/>
          </a:xfrm>
          <a:prstGeom prst="roundRect">
            <a:avLst>
              <a:gd name="adj" fmla="val 1639"/>
            </a:avLst>
          </a:prstGeom>
          <a:solidFill>
            <a:srgbClr val="E8F5EE"/>
          </a:solidFill>
          <a:ln w="12700">
            <a:solidFill>
              <a:srgbClr val="ACD8C0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784848" y="1572768"/>
            <a:ext cx="950976" cy="292608"/>
          </a:xfrm>
          <a:prstGeom prst="roundRect">
            <a:avLst>
              <a:gd name="adj" fmla="val 25000"/>
            </a:avLst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858000" y="159105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920" dirty="0"/>
          </a:p>
        </p:txBody>
      </p:sp>
      <p:sp>
        <p:nvSpPr>
          <p:cNvPr id="31" name="Text 26"/>
          <p:cNvSpPr/>
          <p:nvPr/>
        </p:nvSpPr>
        <p:spPr>
          <a:xfrm>
            <a:off x="6784848" y="199339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3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loan. One EMI. One service relationship.</a:t>
            </a:r>
            <a:endParaRPr lang="en-US" sz="183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39712" y="2816352"/>
            <a:ext cx="841248" cy="84124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882128" y="2752344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₹15,000</a:t>
            </a:r>
            <a:endParaRPr lang="en-US" sz="3400" dirty="0"/>
          </a:p>
        </p:txBody>
      </p:sp>
      <p:sp>
        <p:nvSpPr>
          <p:cNvPr id="34" name="Text 28"/>
          <p:cNvSpPr/>
          <p:nvPr/>
        </p:nvSpPr>
        <p:spPr>
          <a:xfrm>
            <a:off x="7927848" y="346557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monthly EMI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6803136" y="3950208"/>
            <a:ext cx="4169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tenure can reduce the monthly burden, but may increase total repayment.</a:t>
            </a:r>
            <a:endParaRPr lang="en-US" sz="1420" dirty="0"/>
          </a:p>
        </p:txBody>
      </p:sp>
      <p:sp>
        <p:nvSpPr>
          <p:cNvPr id="36" name="Shape 30"/>
          <p:cNvSpPr/>
          <p:nvPr/>
        </p:nvSpPr>
        <p:spPr>
          <a:xfrm>
            <a:off x="6784848" y="4873752"/>
            <a:ext cx="436168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9DCC7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04304" y="5047488"/>
            <a:ext cx="219456" cy="21945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360920" y="4946904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as transparent debt management—not “instant cash”.</a:t>
            </a:r>
            <a:endParaRPr lang="en-US" sz="1140" dirty="0"/>
          </a:p>
        </p:txBody>
      </p:sp>
      <p:sp>
        <p:nvSpPr>
          <p:cNvPr id="39" name="Text 32"/>
          <p:cNvSpPr/>
          <p:nvPr/>
        </p:nvSpPr>
        <p:spPr>
          <a:xfrm>
            <a:off x="640080" y="58795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kern="0" spc="60" dirty="0">
                <a:solidFill>
                  <a:srgbClr val="2F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</a:t>
            </a:r>
            <a:endParaRPr lang="en-US" sz="840" dirty="0"/>
          </a:p>
        </p:txBody>
      </p:sp>
      <p:sp>
        <p:nvSpPr>
          <p:cNvPr id="40" name="Text 33"/>
          <p:cNvSpPr/>
          <p:nvPr/>
        </p:nvSpPr>
        <p:spPr>
          <a:xfrm>
            <a:off x="640080" y="60624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consolidated obligation</a:t>
            </a:r>
            <a:endParaRPr lang="en-US" sz="930" dirty="0"/>
          </a:p>
        </p:txBody>
      </p:sp>
      <p:sp>
        <p:nvSpPr>
          <p:cNvPr id="41" name="Text 34"/>
          <p:cNvSpPr/>
          <p:nvPr/>
        </p:nvSpPr>
        <p:spPr>
          <a:xfrm>
            <a:off x="3502152" y="58795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kern="0" spc="60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840" dirty="0"/>
          </a:p>
        </p:txBody>
      </p:sp>
      <p:sp>
        <p:nvSpPr>
          <p:cNvPr id="42" name="Text 35"/>
          <p:cNvSpPr/>
          <p:nvPr/>
        </p:nvSpPr>
        <p:spPr>
          <a:xfrm>
            <a:off x="3502152" y="60624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monthly EMI potential</a:t>
            </a:r>
            <a:endParaRPr lang="en-US" sz="930" dirty="0"/>
          </a:p>
        </p:txBody>
      </p:sp>
      <p:sp>
        <p:nvSpPr>
          <p:cNvPr id="43" name="Text 36"/>
          <p:cNvSpPr/>
          <p:nvPr/>
        </p:nvSpPr>
        <p:spPr>
          <a:xfrm>
            <a:off x="6364224" y="58795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kern="0" spc="60" dirty="0">
                <a:solidFill>
                  <a:srgbClr val="2F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CONVENIENCE</a:t>
            </a:r>
            <a:endParaRPr lang="en-US" sz="840" dirty="0"/>
          </a:p>
        </p:txBody>
      </p:sp>
      <p:sp>
        <p:nvSpPr>
          <p:cNvPr id="44" name="Text 37"/>
          <p:cNvSpPr/>
          <p:nvPr/>
        </p:nvSpPr>
        <p:spPr>
          <a:xfrm>
            <a:off x="6364224" y="60624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digital journey</a:t>
            </a:r>
            <a:endParaRPr lang="en-US" sz="930" dirty="0"/>
          </a:p>
        </p:txBody>
      </p:sp>
      <p:sp>
        <p:nvSpPr>
          <p:cNvPr id="45" name="Text 38"/>
          <p:cNvSpPr/>
          <p:nvPr/>
        </p:nvSpPr>
        <p:spPr>
          <a:xfrm>
            <a:off x="9226296" y="58795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kern="0" spc="60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840" dirty="0"/>
          </a:p>
        </p:txBody>
      </p:sp>
      <p:sp>
        <p:nvSpPr>
          <p:cNvPr id="46" name="Text 39"/>
          <p:cNvSpPr/>
          <p:nvPr/>
        </p:nvSpPr>
        <p:spPr>
          <a:xfrm>
            <a:off x="9226296" y="60624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tenure, fees &amp; total repayment</a:t>
            </a:r>
            <a:endParaRPr lang="en-US" sz="930" dirty="0"/>
          </a:p>
        </p:txBody>
      </p:sp>
      <p:sp>
        <p:nvSpPr>
          <p:cNvPr id="47" name="Shape 40"/>
          <p:cNvSpPr/>
          <p:nvPr/>
        </p:nvSpPr>
        <p:spPr>
          <a:xfrm>
            <a:off x="502920" y="6455664"/>
            <a:ext cx="11137392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502920" y="6510528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3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3A62E"/>
          </a:solidFill>
          <a:ln w="12700">
            <a:solidFill>
              <a:srgbClr val="D3A6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kern="0" spc="110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PRODUCT SYSTEM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9674352" y="1188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E7F5F3"/>
          </a:solidFill>
          <a:ln w="12700">
            <a:solidFill>
              <a:srgbClr val="E7F5F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47504" y="137160"/>
            <a:ext cx="1728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30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+ TEAM ANALYSIS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11686032" y="14630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27D98"/>
                </a:solidFill>
              </a:rPr>
              <a:t>06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420624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Stage-Gate discipline connects customer value with commercial viability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621792" y="11430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F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INTERVIEW-DERIVED LIFECYCLE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16152" y="2148840"/>
            <a:ext cx="9381744" cy="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618488"/>
            <a:ext cx="1060704" cy="1060704"/>
          </a:xfrm>
          <a:prstGeom prst="ellipse">
            <a:avLst/>
          </a:prstGeom>
          <a:solidFill>
            <a:srgbClr val="183B64"/>
          </a:solidFill>
          <a:ln w="25400">
            <a:solidFill>
              <a:srgbClr val="FFFFFF"/>
            </a:solidFill>
            <a:prstDash val="solid"/>
          </a:ln>
          <a:effectLst>
            <a:outerShdw blurRad="12700" dist="4445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264" y="1847088"/>
            <a:ext cx="493776" cy="4937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6072" y="2798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576072" y="30723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560320" y="1618488"/>
            <a:ext cx="1060704" cy="1060704"/>
          </a:xfrm>
          <a:prstGeom prst="ellipse">
            <a:avLst/>
          </a:prstGeom>
          <a:solidFill>
            <a:srgbClr val="183B64"/>
          </a:solidFill>
          <a:ln w="25400">
            <a:solidFill>
              <a:srgbClr val="FFFFFF"/>
            </a:solidFill>
            <a:prstDash val="solid"/>
          </a:ln>
          <a:effectLst>
            <a:outerShdw blurRad="12700" dist="4445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43784" y="1847088"/>
            <a:ext cx="493776" cy="4937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50592" y="2798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1220" dirty="0"/>
          </a:p>
        </p:txBody>
      </p:sp>
      <p:sp>
        <p:nvSpPr>
          <p:cNvPr id="17" name="Text 13"/>
          <p:cNvSpPr/>
          <p:nvPr/>
        </p:nvSpPr>
        <p:spPr>
          <a:xfrm>
            <a:off x="2450592" y="30723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434840" y="1618488"/>
            <a:ext cx="1060704" cy="1060704"/>
          </a:xfrm>
          <a:prstGeom prst="ellipse">
            <a:avLst/>
          </a:prstGeom>
          <a:solidFill>
            <a:srgbClr val="183B64"/>
          </a:solidFill>
          <a:ln w="25400">
            <a:solidFill>
              <a:srgbClr val="FFFFFF"/>
            </a:solidFill>
            <a:prstDash val="solid"/>
          </a:ln>
          <a:effectLst>
            <a:outerShdw blurRad="12700" dist="4445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18304" y="1847088"/>
            <a:ext cx="493776" cy="4937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325112" y="2798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</a:t>
            </a:r>
            <a:endParaRPr lang="en-US" sz="1220" dirty="0"/>
          </a:p>
        </p:txBody>
      </p:sp>
      <p:sp>
        <p:nvSpPr>
          <p:cNvPr id="21" name="Text 16"/>
          <p:cNvSpPr/>
          <p:nvPr/>
        </p:nvSpPr>
        <p:spPr>
          <a:xfrm>
            <a:off x="4325112" y="30723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309360" y="1618488"/>
            <a:ext cx="1060704" cy="1060704"/>
          </a:xfrm>
          <a:prstGeom prst="ellipse">
            <a:avLst/>
          </a:prstGeom>
          <a:solidFill>
            <a:srgbClr val="183B64"/>
          </a:solidFill>
          <a:ln w="25400">
            <a:solidFill>
              <a:srgbClr val="FFFFFF"/>
            </a:solidFill>
            <a:prstDash val="solid"/>
          </a:ln>
          <a:effectLst>
            <a:outerShdw blurRad="12700" dist="4445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92824" y="1847088"/>
            <a:ext cx="493776" cy="49377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199632" y="2798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220" dirty="0"/>
          </a:p>
        </p:txBody>
      </p:sp>
      <p:sp>
        <p:nvSpPr>
          <p:cNvPr id="25" name="Text 19"/>
          <p:cNvSpPr/>
          <p:nvPr/>
        </p:nvSpPr>
        <p:spPr>
          <a:xfrm>
            <a:off x="6199632" y="30723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/ LMS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8183880" y="1618488"/>
            <a:ext cx="1060704" cy="1060704"/>
          </a:xfrm>
          <a:prstGeom prst="ellipse">
            <a:avLst/>
          </a:prstGeom>
          <a:solidFill>
            <a:srgbClr val="183B64"/>
          </a:solidFill>
          <a:ln w="25400">
            <a:solidFill>
              <a:srgbClr val="FFFFFF"/>
            </a:solidFill>
            <a:prstDash val="solid"/>
          </a:ln>
          <a:effectLst>
            <a:outerShdw blurRad="12700" dist="4445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67344" y="1847088"/>
            <a:ext cx="493776" cy="49377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074152" y="2798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220" dirty="0"/>
          </a:p>
        </p:txBody>
      </p:sp>
      <p:sp>
        <p:nvSpPr>
          <p:cNvPr id="29" name="Text 22"/>
          <p:cNvSpPr/>
          <p:nvPr/>
        </p:nvSpPr>
        <p:spPr>
          <a:xfrm>
            <a:off x="8074152" y="30723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10058400" y="1618488"/>
            <a:ext cx="1060704" cy="1060704"/>
          </a:xfrm>
          <a:prstGeom prst="ellipse">
            <a:avLst/>
          </a:prstGeom>
          <a:solidFill>
            <a:srgbClr val="D3A62E"/>
          </a:solidFill>
          <a:ln w="25400">
            <a:solidFill>
              <a:srgbClr val="FFFFFF"/>
            </a:solidFill>
            <a:prstDash val="solid"/>
          </a:ln>
          <a:effectLst>
            <a:outerShdw blurRad="12700" dist="4445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341864" y="1847088"/>
            <a:ext cx="493776" cy="4937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48672" y="2798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220" dirty="0"/>
          </a:p>
        </p:txBody>
      </p:sp>
      <p:sp>
        <p:nvSpPr>
          <p:cNvPr id="33" name="Text 25"/>
          <p:cNvSpPr/>
          <p:nvPr/>
        </p:nvSpPr>
        <p:spPr>
          <a:xfrm>
            <a:off x="9948672" y="30723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21792" y="3739896"/>
            <a:ext cx="5577840" cy="2249424"/>
          </a:xfrm>
          <a:prstGeom prst="roundRect">
            <a:avLst>
              <a:gd name="adj" fmla="val 3252"/>
            </a:avLst>
          </a:prstGeom>
          <a:solidFill>
            <a:srgbClr val="E9F2FA"/>
          </a:solidFill>
          <a:ln w="12700">
            <a:solidFill>
              <a:srgbClr val="BBD4E7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5" name="Text 27"/>
          <p:cNvSpPr/>
          <p:nvPr/>
        </p:nvSpPr>
        <p:spPr>
          <a:xfrm>
            <a:off x="896112" y="396849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2F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PRICING LOGIC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932688" y="4379976"/>
            <a:ext cx="114300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C5D7E6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932688" y="448970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83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2300" dirty="0"/>
          </a:p>
        </p:txBody>
      </p:sp>
      <p:sp>
        <p:nvSpPr>
          <p:cNvPr id="38" name="Text 30"/>
          <p:cNvSpPr/>
          <p:nvPr/>
        </p:nvSpPr>
        <p:spPr>
          <a:xfrm>
            <a:off x="1005840" y="491947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funds</a:t>
            </a:r>
            <a:endParaRPr lang="en-US" sz="960" dirty="0"/>
          </a:p>
        </p:txBody>
      </p:sp>
      <p:sp>
        <p:nvSpPr>
          <p:cNvPr id="39" name="Text 31"/>
          <p:cNvSpPr/>
          <p:nvPr/>
        </p:nvSpPr>
        <p:spPr>
          <a:xfrm>
            <a:off x="2157984" y="459028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100" dirty="0"/>
          </a:p>
        </p:txBody>
      </p:sp>
      <p:sp>
        <p:nvSpPr>
          <p:cNvPr id="40" name="Shape 32"/>
          <p:cNvSpPr/>
          <p:nvPr/>
        </p:nvSpPr>
        <p:spPr>
          <a:xfrm>
            <a:off x="2423160" y="4379976"/>
            <a:ext cx="114300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C5D7E6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2423160" y="448970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83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2300" dirty="0"/>
          </a:p>
        </p:txBody>
      </p:sp>
      <p:sp>
        <p:nvSpPr>
          <p:cNvPr id="42" name="Text 34"/>
          <p:cNvSpPr/>
          <p:nvPr/>
        </p:nvSpPr>
        <p:spPr>
          <a:xfrm>
            <a:off x="2496312" y="491947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cost</a:t>
            </a:r>
            <a:endParaRPr lang="en-US" sz="960" dirty="0"/>
          </a:p>
        </p:txBody>
      </p:sp>
      <p:sp>
        <p:nvSpPr>
          <p:cNvPr id="43" name="Text 35"/>
          <p:cNvSpPr/>
          <p:nvPr/>
        </p:nvSpPr>
        <p:spPr>
          <a:xfrm>
            <a:off x="3648456" y="459028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100" dirty="0"/>
          </a:p>
        </p:txBody>
      </p:sp>
      <p:sp>
        <p:nvSpPr>
          <p:cNvPr id="44" name="Shape 36"/>
          <p:cNvSpPr/>
          <p:nvPr/>
        </p:nvSpPr>
        <p:spPr>
          <a:xfrm>
            <a:off x="3913632" y="4379976"/>
            <a:ext cx="114300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C5D7E6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3913632" y="448970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83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2300" dirty="0"/>
          </a:p>
        </p:txBody>
      </p:sp>
      <p:sp>
        <p:nvSpPr>
          <p:cNvPr id="46" name="Text 38"/>
          <p:cNvSpPr/>
          <p:nvPr/>
        </p:nvSpPr>
        <p:spPr>
          <a:xfrm>
            <a:off x="3986784" y="491947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960" dirty="0"/>
          </a:p>
        </p:txBody>
      </p:sp>
      <p:sp>
        <p:nvSpPr>
          <p:cNvPr id="47" name="Text 39"/>
          <p:cNvSpPr/>
          <p:nvPr/>
        </p:nvSpPr>
        <p:spPr>
          <a:xfrm>
            <a:off x="5148072" y="459028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100" dirty="0"/>
          </a:p>
        </p:txBody>
      </p:sp>
      <p:sp>
        <p:nvSpPr>
          <p:cNvPr id="48" name="Shape 40"/>
          <p:cNvSpPr/>
          <p:nvPr/>
        </p:nvSpPr>
        <p:spPr>
          <a:xfrm>
            <a:off x="5376672" y="4379976"/>
            <a:ext cx="557784" cy="1042416"/>
          </a:xfrm>
          <a:prstGeom prst="roundRect">
            <a:avLst>
              <a:gd name="adj" fmla="val 13115"/>
            </a:avLst>
          </a:prstGeom>
          <a:solidFill>
            <a:srgbClr val="D3A62E"/>
          </a:solidFill>
          <a:ln w="12700">
            <a:solidFill>
              <a:srgbClr val="D3A62E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5376672" y="4553712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800" dirty="0"/>
          </a:p>
        </p:txBody>
      </p:sp>
      <p:sp>
        <p:nvSpPr>
          <p:cNvPr id="50" name="Text 42"/>
          <p:cNvSpPr/>
          <p:nvPr/>
        </p:nvSpPr>
        <p:spPr>
          <a:xfrm>
            <a:off x="5413248" y="491947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810" dirty="0"/>
          </a:p>
        </p:txBody>
      </p:sp>
      <p:sp>
        <p:nvSpPr>
          <p:cNvPr id="51" name="Text 43"/>
          <p:cNvSpPr/>
          <p:nvPr/>
        </p:nvSpPr>
        <p:spPr>
          <a:xfrm>
            <a:off x="914400" y="553212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i="1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arithmetic only—not actual Poonawalla pricing.</a:t>
            </a:r>
            <a:endParaRPr lang="en-US" sz="920" dirty="0"/>
          </a:p>
        </p:txBody>
      </p:sp>
      <p:sp>
        <p:nvSpPr>
          <p:cNvPr id="52" name="Shape 44"/>
          <p:cNvSpPr/>
          <p:nvPr/>
        </p:nvSpPr>
        <p:spPr>
          <a:xfrm>
            <a:off x="6419088" y="3739896"/>
            <a:ext cx="5157216" cy="2249424"/>
          </a:xfrm>
          <a:prstGeom prst="roundRect">
            <a:avLst>
              <a:gd name="adj" fmla="val 3252"/>
            </a:avLst>
          </a:prstGeom>
          <a:solidFill>
            <a:srgbClr val="FFF4D6"/>
          </a:solidFill>
          <a:ln w="12700">
            <a:solidFill>
              <a:srgbClr val="E9CE74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3" name="Text 45"/>
          <p:cNvSpPr/>
          <p:nvPr/>
        </p:nvSpPr>
        <p:spPr>
          <a:xfrm>
            <a:off x="6729984" y="39684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GTM LOGIC</a:t>
            </a:r>
            <a:endParaRPr lang="en-US" sz="1000" dirty="0"/>
          </a:p>
        </p:txBody>
      </p:sp>
      <p:sp>
        <p:nvSpPr>
          <p:cNvPr id="54" name="Shape 46"/>
          <p:cNvSpPr/>
          <p:nvPr/>
        </p:nvSpPr>
        <p:spPr>
          <a:xfrm>
            <a:off x="6711696" y="4361688"/>
            <a:ext cx="256032" cy="256032"/>
          </a:xfrm>
          <a:prstGeom prst="ellipse">
            <a:avLst/>
          </a:prstGeom>
          <a:solidFill>
            <a:srgbClr val="D3A62E"/>
          </a:solidFill>
          <a:ln w="12700">
            <a:solidFill>
              <a:srgbClr val="D3A62E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6711696" y="437083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56" name="Text 48"/>
          <p:cNvSpPr/>
          <p:nvPr/>
        </p:nvSpPr>
        <p:spPr>
          <a:xfrm>
            <a:off x="7123176" y="43434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130" dirty="0"/>
          </a:p>
        </p:txBody>
      </p:sp>
      <p:sp>
        <p:nvSpPr>
          <p:cNvPr id="57" name="Text 49"/>
          <p:cNvSpPr/>
          <p:nvPr/>
        </p:nvSpPr>
        <p:spPr>
          <a:xfrm>
            <a:off x="7973568" y="434340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salaried customers</a:t>
            </a:r>
            <a:endParaRPr lang="en-US" sz="1060" dirty="0"/>
          </a:p>
        </p:txBody>
      </p:sp>
      <p:sp>
        <p:nvSpPr>
          <p:cNvPr id="58" name="Shape 50"/>
          <p:cNvSpPr/>
          <p:nvPr/>
        </p:nvSpPr>
        <p:spPr>
          <a:xfrm>
            <a:off x="6711696" y="4718304"/>
            <a:ext cx="256032" cy="256032"/>
          </a:xfrm>
          <a:prstGeom prst="ellipse">
            <a:avLst/>
          </a:prstGeom>
          <a:solidFill>
            <a:srgbClr val="D3A62E"/>
          </a:solidFill>
          <a:ln w="12700">
            <a:solidFill>
              <a:srgbClr val="D3A62E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6711696" y="472744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60" name="Text 52"/>
          <p:cNvSpPr/>
          <p:nvPr/>
        </p:nvSpPr>
        <p:spPr>
          <a:xfrm>
            <a:off x="7123176" y="470001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130" dirty="0"/>
          </a:p>
        </p:txBody>
      </p:sp>
      <p:sp>
        <p:nvSpPr>
          <p:cNvPr id="61" name="Text 53"/>
          <p:cNvSpPr/>
          <p:nvPr/>
        </p:nvSpPr>
        <p:spPr>
          <a:xfrm>
            <a:off x="7973568" y="4700016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manageable EMI</a:t>
            </a:r>
            <a:endParaRPr lang="en-US" sz="1060" dirty="0"/>
          </a:p>
        </p:txBody>
      </p:sp>
      <p:sp>
        <p:nvSpPr>
          <p:cNvPr id="62" name="Shape 54"/>
          <p:cNvSpPr/>
          <p:nvPr/>
        </p:nvSpPr>
        <p:spPr>
          <a:xfrm>
            <a:off x="6711696" y="5074920"/>
            <a:ext cx="256032" cy="256032"/>
          </a:xfrm>
          <a:prstGeom prst="ellipse">
            <a:avLst/>
          </a:prstGeom>
          <a:solidFill>
            <a:srgbClr val="D3A62E"/>
          </a:solidFill>
          <a:ln w="12700">
            <a:solidFill>
              <a:srgbClr val="D3A62E"/>
            </a:solidFill>
            <a:prstDash val="solid"/>
          </a:ln>
        </p:spPr>
      </p:sp>
      <p:sp>
        <p:nvSpPr>
          <p:cNvPr id="63" name="Text 55"/>
          <p:cNvSpPr/>
          <p:nvPr/>
        </p:nvSpPr>
        <p:spPr>
          <a:xfrm>
            <a:off x="6711696" y="508406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64" name="Text 56"/>
          <p:cNvSpPr/>
          <p:nvPr/>
        </p:nvSpPr>
        <p:spPr>
          <a:xfrm>
            <a:off x="7123176" y="50566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130" dirty="0"/>
          </a:p>
        </p:txBody>
      </p:sp>
      <p:sp>
        <p:nvSpPr>
          <p:cNvPr id="65" name="Text 57"/>
          <p:cNvSpPr/>
          <p:nvPr/>
        </p:nvSpPr>
        <p:spPr>
          <a:xfrm>
            <a:off x="7973568" y="505663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/ employer cohort</a:t>
            </a:r>
            <a:endParaRPr lang="en-US" sz="1060" dirty="0"/>
          </a:p>
        </p:txBody>
      </p:sp>
      <p:sp>
        <p:nvSpPr>
          <p:cNvPr id="66" name="Shape 58"/>
          <p:cNvSpPr/>
          <p:nvPr/>
        </p:nvSpPr>
        <p:spPr>
          <a:xfrm>
            <a:off x="6711696" y="5431536"/>
            <a:ext cx="256032" cy="256032"/>
          </a:xfrm>
          <a:prstGeom prst="ellipse">
            <a:avLst/>
          </a:prstGeom>
          <a:solidFill>
            <a:srgbClr val="D3A62E"/>
          </a:solidFill>
          <a:ln w="12700">
            <a:solidFill>
              <a:srgbClr val="D3A62E"/>
            </a:solidFill>
            <a:prstDash val="solid"/>
          </a:ln>
        </p:spPr>
      </p:sp>
      <p:sp>
        <p:nvSpPr>
          <p:cNvPr id="67" name="Text 59"/>
          <p:cNvSpPr/>
          <p:nvPr/>
        </p:nvSpPr>
        <p:spPr>
          <a:xfrm>
            <a:off x="6711696" y="54406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68" name="Text 60"/>
          <p:cNvSpPr/>
          <p:nvPr/>
        </p:nvSpPr>
        <p:spPr>
          <a:xfrm>
            <a:off x="7123176" y="54132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130" dirty="0"/>
          </a:p>
        </p:txBody>
      </p:sp>
      <p:sp>
        <p:nvSpPr>
          <p:cNvPr id="69" name="Text 61"/>
          <p:cNvSpPr/>
          <p:nvPr/>
        </p:nvSpPr>
        <p:spPr>
          <a:xfrm>
            <a:off x="7973568" y="541324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after evidence gates</a:t>
            </a:r>
            <a:endParaRPr lang="en-US" sz="1060" dirty="0"/>
          </a:p>
        </p:txBody>
      </p:sp>
      <p:sp>
        <p:nvSpPr>
          <p:cNvPr id="70" name="Shape 62"/>
          <p:cNvSpPr/>
          <p:nvPr/>
        </p:nvSpPr>
        <p:spPr>
          <a:xfrm>
            <a:off x="6711696" y="5696712"/>
            <a:ext cx="437083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E9CE74"/>
            </a:solidFill>
            <a:prstDash val="solid"/>
          </a:ln>
        </p:spPr>
      </p:sp>
      <p:sp>
        <p:nvSpPr>
          <p:cNvPr id="71" name="Text 63"/>
          <p:cNvSpPr/>
          <p:nvPr/>
        </p:nvSpPr>
        <p:spPr>
          <a:xfrm>
            <a:off x="6821424" y="5724144"/>
            <a:ext cx="41513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+ credit quality + risk-adjusted contribution</a:t>
            </a:r>
            <a:endParaRPr lang="en-US" sz="960" dirty="0"/>
          </a:p>
        </p:txBody>
      </p:sp>
      <p:sp>
        <p:nvSpPr>
          <p:cNvPr id="72" name="Shape 64"/>
          <p:cNvSpPr/>
          <p:nvPr/>
        </p:nvSpPr>
        <p:spPr>
          <a:xfrm>
            <a:off x="502920" y="6455664"/>
            <a:ext cx="11137392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73" name="Text 65"/>
          <p:cNvSpPr/>
          <p:nvPr/>
        </p:nvSpPr>
        <p:spPr>
          <a:xfrm>
            <a:off x="502920" y="6510528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30" dirty="0"/>
          </a:p>
        </p:txBody>
      </p:sp>
      <p:sp>
        <p:nvSpPr>
          <p:cNvPr id="7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3A62E"/>
          </a:solidFill>
          <a:ln w="12700">
            <a:solidFill>
              <a:srgbClr val="D3A6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kern="0" spc="110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 &amp; PRODUCT-MARKET FIT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9674352" y="1188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E9F2FA"/>
          </a:solidFill>
          <a:ln w="12700">
            <a:solidFill>
              <a:srgbClr val="E9F2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47504" y="137160"/>
            <a:ext cx="1728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30" dirty="0">
                <a:solidFill>
                  <a:srgbClr val="2F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EVIDENCE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11686032" y="14630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27D98"/>
                </a:solidFill>
              </a:rPr>
              <a:t>07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420624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winning product is fast enough for customers—and safe enough for the book</a:t>
            </a:r>
            <a:endParaRPr lang="en-US" sz="245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4690872" cy="2880360"/>
          </a:xfrm>
          <a:prstGeom prst="roundRect">
            <a:avLst>
              <a:gd name="adj" fmla="val 2540"/>
            </a:avLst>
          </a:prstGeom>
          <a:solidFill>
            <a:srgbClr val="E9F2FA"/>
          </a:solidFill>
          <a:ln w="12700">
            <a:solidFill>
              <a:srgbClr val="BBD4E7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1673352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00784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speed</a:t>
            </a:r>
            <a:endParaRPr lang="en-US" sz="2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2423160"/>
            <a:ext cx="192024" cy="192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25296" y="23682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forms</a:t>
            </a:r>
            <a:endParaRPr lang="en-US" sz="124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2816352"/>
            <a:ext cx="192024" cy="1920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25296" y="27614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repeated documents</a:t>
            </a:r>
            <a:endParaRPr lang="en-US" sz="124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209544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25296" y="31546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decisions</a:t>
            </a:r>
            <a:endParaRPr lang="en-US" sz="124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602736"/>
            <a:ext cx="192024" cy="19202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25296" y="35478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status &amp; rejection</a:t>
            </a:r>
            <a:endParaRPr lang="en-US" sz="1240" dirty="0"/>
          </a:p>
        </p:txBody>
      </p:sp>
      <p:sp>
        <p:nvSpPr>
          <p:cNvPr id="19" name="Shape 12"/>
          <p:cNvSpPr/>
          <p:nvPr/>
        </p:nvSpPr>
        <p:spPr>
          <a:xfrm>
            <a:off x="6931152" y="1325880"/>
            <a:ext cx="4690872" cy="2880360"/>
          </a:xfrm>
          <a:prstGeom prst="roundRect">
            <a:avLst>
              <a:gd name="adj" fmla="val 2540"/>
            </a:avLst>
          </a:prstGeom>
          <a:solidFill>
            <a:srgbClr val="FDECEC"/>
          </a:solidFill>
          <a:ln w="12700">
            <a:solidFill>
              <a:srgbClr val="F3B8B8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78624" y="1673352"/>
            <a:ext cx="640080" cy="6400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065008" y="16002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growth</a:t>
            </a:r>
            <a:endParaRPr lang="en-US" sz="20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78624" y="2423160"/>
            <a:ext cx="192024" cy="19202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589520" y="23682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bureau &amp; policy checks</a:t>
            </a:r>
            <a:endParaRPr lang="en-US" sz="124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78624" y="2816352"/>
            <a:ext cx="192024" cy="19202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589520" y="27614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/ identity controls</a:t>
            </a:r>
            <a:endParaRPr lang="en-US" sz="124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78624" y="3209544"/>
            <a:ext cx="192024" cy="192024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7589520" y="31546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&amp; transparent consent</a:t>
            </a:r>
            <a:endParaRPr lang="en-US" sz="124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78624" y="3602736"/>
            <a:ext cx="192024" cy="192024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7589520" y="35478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Portfolio-quality guardrails</a:t>
            </a:r>
            <a:endParaRPr lang="en-US" sz="1240" dirty="0"/>
          </a:p>
        </p:txBody>
      </p:sp>
      <p:sp>
        <p:nvSpPr>
          <p:cNvPr id="30" name="Shape 18"/>
          <p:cNvSpPr/>
          <p:nvPr/>
        </p:nvSpPr>
        <p:spPr>
          <a:xfrm>
            <a:off x="5257800" y="1883664"/>
            <a:ext cx="1673352" cy="1673352"/>
          </a:xfrm>
          <a:prstGeom prst="ellipse">
            <a:avLst/>
          </a:prstGeom>
          <a:solidFill>
            <a:srgbClr val="183B64"/>
          </a:solidFill>
          <a:ln w="38100">
            <a:solidFill>
              <a:srgbClr val="D3A62E"/>
            </a:solidFill>
            <a:prstDash val="solid"/>
          </a:ln>
          <a:effectLst>
            <a:outerShdw blurRad="15240" dist="635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42432" y="2212848"/>
            <a:ext cx="704088" cy="704088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458968" y="2944368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</a:t>
            </a:r>
            <a:endParaRPr lang="en-US" sz="1270" dirty="0"/>
          </a:p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PMF</a:t>
            </a:r>
            <a:endParaRPr lang="en-US" sz="1270" dirty="0"/>
          </a:p>
        </p:txBody>
      </p:sp>
      <p:sp>
        <p:nvSpPr>
          <p:cNvPr id="33" name="Shape 20"/>
          <p:cNvSpPr/>
          <p:nvPr/>
        </p:nvSpPr>
        <p:spPr>
          <a:xfrm>
            <a:off x="566928" y="4489704"/>
            <a:ext cx="11055096" cy="1353312"/>
          </a:xfrm>
          <a:prstGeom prst="roundRect">
            <a:avLst>
              <a:gd name="adj" fmla="val 5405"/>
            </a:avLst>
          </a:prstGeom>
          <a:solidFill>
            <a:srgbClr val="0B223D"/>
          </a:solidFill>
          <a:ln w="12700">
            <a:solidFill>
              <a:srgbClr val="0B223D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4" name="Text 21"/>
          <p:cNvSpPr/>
          <p:nvPr/>
        </p:nvSpPr>
        <p:spPr>
          <a:xfrm>
            <a:off x="896112" y="4736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D3A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LENDING PMF IS DELAYED</a:t>
            </a:r>
            <a:endParaRPr lang="en-US" sz="1100" dirty="0"/>
          </a:p>
        </p:txBody>
      </p:sp>
      <p:sp>
        <p:nvSpPr>
          <p:cNvPr id="35" name="Text 22"/>
          <p:cNvSpPr/>
          <p:nvPr/>
        </p:nvSpPr>
        <p:spPr>
          <a:xfrm>
            <a:off x="896112" y="5047488"/>
            <a:ext cx="3950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 may look profitable at launch. The real test appears when the book seasons.</a:t>
            </a:r>
            <a:endParaRPr lang="en-US" sz="1670" dirty="0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38928" y="4754880"/>
            <a:ext cx="365760" cy="365760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5623560" y="4709160"/>
            <a:ext cx="1325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Profitability</a:t>
            </a:r>
            <a:endParaRPr lang="en-US" sz="1220" dirty="0"/>
          </a:p>
        </p:txBody>
      </p:sp>
      <p:sp>
        <p:nvSpPr>
          <p:cNvPr id="38" name="Text 24"/>
          <p:cNvSpPr/>
          <p:nvPr/>
        </p:nvSpPr>
        <p:spPr>
          <a:xfrm>
            <a:off x="5623560" y="5029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credit &amp; service costs</a:t>
            </a:r>
            <a:endParaRPr lang="en-US" sz="960" dirty="0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96912" y="4754880"/>
            <a:ext cx="365760" cy="365760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7781544" y="4709160"/>
            <a:ext cx="1325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behaviour</a:t>
            </a:r>
            <a:endParaRPr lang="en-US" sz="1220" dirty="0"/>
          </a:p>
        </p:txBody>
      </p:sp>
      <p:sp>
        <p:nvSpPr>
          <p:cNvPr id="41" name="Text 26"/>
          <p:cNvSpPr/>
          <p:nvPr/>
        </p:nvSpPr>
        <p:spPr>
          <a:xfrm>
            <a:off x="7781544" y="5029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delinquency &amp; provisioning</a:t>
            </a:r>
            <a:endParaRPr lang="en-US" sz="96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454896" y="4754880"/>
            <a:ext cx="365760" cy="365760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9939528" y="4709160"/>
            <a:ext cx="1325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presence</a:t>
            </a:r>
            <a:endParaRPr lang="en-US" sz="1220" dirty="0"/>
          </a:p>
        </p:txBody>
      </p:sp>
      <p:sp>
        <p:nvSpPr>
          <p:cNvPr id="44" name="Text 28"/>
          <p:cNvSpPr/>
          <p:nvPr/>
        </p:nvSpPr>
        <p:spPr>
          <a:xfrm>
            <a:off x="9939528" y="5029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uneconomic incentives</a:t>
            </a:r>
            <a:endParaRPr lang="en-US" sz="960" dirty="0"/>
          </a:p>
        </p:txBody>
      </p:sp>
      <p:sp>
        <p:nvSpPr>
          <p:cNvPr id="45" name="Shape 29"/>
          <p:cNvSpPr/>
          <p:nvPr/>
        </p:nvSpPr>
        <p:spPr>
          <a:xfrm>
            <a:off x="502920" y="6455664"/>
            <a:ext cx="11137392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46" name="Text 30"/>
          <p:cNvSpPr/>
          <p:nvPr/>
        </p:nvSpPr>
        <p:spPr>
          <a:xfrm>
            <a:off x="502920" y="6510528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3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3A62E"/>
          </a:solidFill>
          <a:ln w="12700">
            <a:solidFill>
              <a:srgbClr val="D3A6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kern="0" spc="110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OUTCOME ROADMAP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9674352" y="1188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FFF4D6"/>
          </a:solidFill>
          <a:ln w="12700">
            <a:solidFill>
              <a:srgbClr val="FFF4D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47504" y="137160"/>
            <a:ext cx="1728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30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TEAM 3 PROPOSAL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11686032" y="14630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27D98"/>
                </a:solidFill>
              </a:rPr>
              <a:t>08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420624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12-month sequence to instrument, validate, serve and scale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i="1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Proposed—not Poonawalla Fincorp’s internal roadmap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914400" y="3172968"/>
            <a:ext cx="10195560" cy="0"/>
          </a:xfrm>
          <a:prstGeom prst="line">
            <a:avLst/>
          </a:prstGeom>
          <a:noFill/>
          <a:ln w="38100">
            <a:solidFill>
              <a:srgbClr val="9FB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572768"/>
            <a:ext cx="2514600" cy="3959352"/>
          </a:xfrm>
          <a:prstGeom prst="roundRect">
            <a:avLst>
              <a:gd name="adj" fmla="val 2909"/>
            </a:avLst>
          </a:prstGeom>
          <a:solidFill>
            <a:srgbClr val="E9F2FA"/>
          </a:solidFill>
          <a:ln w="12700">
            <a:solidFill>
              <a:srgbClr val="BBD4E7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50392" y="1810512"/>
            <a:ext cx="1243584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8288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kern="0" spc="30" dirty="0">
                <a:solidFill>
                  <a:srgbClr val="2F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0–90 DAYS</a:t>
            </a:r>
            <a:endParaRPr lang="en-US" sz="84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95728" y="1746504"/>
            <a:ext cx="438912" cy="4389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50392" y="2286000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3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the journey</a:t>
            </a:r>
            <a:endParaRPr lang="en-US" sz="163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3401568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70432" y="331927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&amp; funnel dashboard</a:t>
            </a:r>
            <a:endParaRPr lang="en-US" sz="111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4041648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70432" y="395935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TAT, rejection and cohort quality</a:t>
            </a:r>
            <a:endParaRPr lang="en-US" sz="1110" dirty="0"/>
          </a:p>
        </p:txBody>
      </p:sp>
      <p:sp>
        <p:nvSpPr>
          <p:cNvPr id="19" name="Shape 14"/>
          <p:cNvSpPr/>
          <p:nvPr/>
        </p:nvSpPr>
        <p:spPr>
          <a:xfrm>
            <a:off x="1755648" y="3031236"/>
            <a:ext cx="283464" cy="283464"/>
          </a:xfrm>
          <a:prstGeom prst="ellipse">
            <a:avLst/>
          </a:prstGeom>
          <a:solidFill>
            <a:srgbClr val="2F6FA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68680" y="491947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70" dirty="0">
                <a:solidFill>
                  <a:srgbClr val="2F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840" dirty="0"/>
          </a:p>
        </p:txBody>
      </p:sp>
      <p:sp>
        <p:nvSpPr>
          <p:cNvPr id="21" name="Text 16"/>
          <p:cNvSpPr/>
          <p:nvPr/>
        </p:nvSpPr>
        <p:spPr>
          <a:xfrm>
            <a:off x="1682496" y="4828032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3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</a:t>
            </a:r>
            <a:endParaRPr lang="en-US" sz="1130" dirty="0"/>
          </a:p>
        </p:txBody>
      </p:sp>
      <p:sp>
        <p:nvSpPr>
          <p:cNvPr id="22" name="Shape 17"/>
          <p:cNvSpPr/>
          <p:nvPr/>
        </p:nvSpPr>
        <p:spPr>
          <a:xfrm>
            <a:off x="3429000" y="1572768"/>
            <a:ext cx="2514600" cy="3959352"/>
          </a:xfrm>
          <a:prstGeom prst="roundRect">
            <a:avLst>
              <a:gd name="adj" fmla="val 2909"/>
            </a:avLst>
          </a:prstGeom>
          <a:solidFill>
            <a:srgbClr val="FFF4D6"/>
          </a:solidFill>
          <a:ln w="12700">
            <a:solidFill>
              <a:srgbClr val="E9CE74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39312" y="1810512"/>
            <a:ext cx="1243584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712464" y="18288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kern="0" spc="30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 MONTHS</a:t>
            </a:r>
            <a:endParaRPr lang="en-US" sz="84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84648" y="1746504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639312" y="2286000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3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consolidation</a:t>
            </a:r>
            <a:endParaRPr lang="en-US" sz="163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57600" y="3401568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59352" y="331927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EMI calculator &amp; disclosures</a:t>
            </a:r>
            <a:endParaRPr lang="en-US" sz="111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57600" y="4041648"/>
            <a:ext cx="182880" cy="1828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959352" y="395935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direct vs partner cohorts</a:t>
            </a:r>
            <a:endParaRPr lang="en-US" sz="1110" dirty="0"/>
          </a:p>
        </p:txBody>
      </p:sp>
      <p:sp>
        <p:nvSpPr>
          <p:cNvPr id="31" name="Shape 23"/>
          <p:cNvSpPr/>
          <p:nvPr/>
        </p:nvSpPr>
        <p:spPr>
          <a:xfrm>
            <a:off x="4544568" y="3031236"/>
            <a:ext cx="283464" cy="283464"/>
          </a:xfrm>
          <a:prstGeom prst="ellipse">
            <a:avLst/>
          </a:prstGeom>
          <a:solidFill>
            <a:srgbClr val="A879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3657600" y="491947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70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840" dirty="0"/>
          </a:p>
        </p:txBody>
      </p:sp>
      <p:sp>
        <p:nvSpPr>
          <p:cNvPr id="33" name="Text 25"/>
          <p:cNvSpPr/>
          <p:nvPr/>
        </p:nvSpPr>
        <p:spPr>
          <a:xfrm>
            <a:off x="4471416" y="4828032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3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conversion</a:t>
            </a:r>
            <a:endParaRPr lang="en-US" sz="1130" dirty="0"/>
          </a:p>
        </p:txBody>
      </p:sp>
      <p:sp>
        <p:nvSpPr>
          <p:cNvPr id="34" name="Shape 26"/>
          <p:cNvSpPr/>
          <p:nvPr/>
        </p:nvSpPr>
        <p:spPr>
          <a:xfrm>
            <a:off x="6217920" y="1572768"/>
            <a:ext cx="2514600" cy="3959352"/>
          </a:xfrm>
          <a:prstGeom prst="roundRect">
            <a:avLst>
              <a:gd name="adj" fmla="val 2909"/>
            </a:avLst>
          </a:prstGeom>
          <a:solidFill>
            <a:srgbClr val="E7F5F3"/>
          </a:solidFill>
          <a:ln w="12700">
            <a:solidFill>
              <a:srgbClr val="A7D9D2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28232" y="1810512"/>
            <a:ext cx="1243584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6501384" y="18288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kern="0" spc="30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6–9 MONTHS</a:t>
            </a:r>
            <a:endParaRPr lang="en-US" sz="84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73568" y="1746504"/>
            <a:ext cx="438912" cy="43891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428232" y="2286000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3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service &amp; retention</a:t>
            </a:r>
            <a:endParaRPr lang="en-US" sz="163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46520" y="3401568"/>
            <a:ext cx="182880" cy="18288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748272" y="331927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Statements, closure &amp; issue tracking</a:t>
            </a:r>
            <a:endParaRPr lang="en-US" sz="111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46520" y="4041648"/>
            <a:ext cx="182880" cy="18288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748272" y="395935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repeat / top-up demand</a:t>
            </a:r>
            <a:endParaRPr lang="en-US" sz="1110" dirty="0"/>
          </a:p>
        </p:txBody>
      </p:sp>
      <p:sp>
        <p:nvSpPr>
          <p:cNvPr id="43" name="Shape 32"/>
          <p:cNvSpPr/>
          <p:nvPr/>
        </p:nvSpPr>
        <p:spPr>
          <a:xfrm>
            <a:off x="7333488" y="3031236"/>
            <a:ext cx="283464" cy="283464"/>
          </a:xfrm>
          <a:prstGeom prst="ellipse">
            <a:avLst/>
          </a:prstGeom>
          <a:solidFill>
            <a:srgbClr val="167D7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4" name="Text 33"/>
          <p:cNvSpPr/>
          <p:nvPr/>
        </p:nvSpPr>
        <p:spPr>
          <a:xfrm>
            <a:off x="6446520" y="491947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70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840" dirty="0"/>
          </a:p>
        </p:txBody>
      </p:sp>
      <p:sp>
        <p:nvSpPr>
          <p:cNvPr id="45" name="Text 34"/>
          <p:cNvSpPr/>
          <p:nvPr/>
        </p:nvSpPr>
        <p:spPr>
          <a:xfrm>
            <a:off x="7260336" y="4828032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3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service effort</a:t>
            </a:r>
            <a:endParaRPr lang="en-US" sz="1130" dirty="0"/>
          </a:p>
        </p:txBody>
      </p:sp>
      <p:sp>
        <p:nvSpPr>
          <p:cNvPr id="46" name="Shape 35"/>
          <p:cNvSpPr/>
          <p:nvPr/>
        </p:nvSpPr>
        <p:spPr>
          <a:xfrm>
            <a:off x="9006840" y="1572768"/>
            <a:ext cx="2514600" cy="3959352"/>
          </a:xfrm>
          <a:prstGeom prst="roundRect">
            <a:avLst>
              <a:gd name="adj" fmla="val 2909"/>
            </a:avLst>
          </a:prstGeom>
          <a:solidFill>
            <a:srgbClr val="E8F5EE"/>
          </a:solidFill>
          <a:ln w="12700">
            <a:solidFill>
              <a:srgbClr val="ACD8C0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7" name="Shape 36"/>
          <p:cNvSpPr/>
          <p:nvPr/>
        </p:nvSpPr>
        <p:spPr>
          <a:xfrm>
            <a:off x="9217152" y="1810512"/>
            <a:ext cx="1243584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7"/>
          <p:cNvSpPr/>
          <p:nvPr/>
        </p:nvSpPr>
        <p:spPr>
          <a:xfrm>
            <a:off x="9290304" y="18288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kern="0" spc="30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9–12 MONTHS</a:t>
            </a:r>
            <a:endParaRPr lang="en-US" sz="840" dirty="0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762488" y="1746504"/>
            <a:ext cx="438912" cy="438912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9217152" y="2286000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3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risk-adjusted growth</a:t>
            </a:r>
            <a:endParaRPr lang="en-US" sz="1630" dirty="0"/>
          </a:p>
        </p:txBody>
      </p:sp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0" y="3401568"/>
            <a:ext cx="182880" cy="182880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9537192" y="331927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budget for proven cohorts</a:t>
            </a:r>
            <a:endParaRPr lang="en-US" sz="1110" dirty="0"/>
          </a:p>
        </p:txBody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0" y="4041648"/>
            <a:ext cx="182880" cy="182880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9537192" y="395935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on cost, delinquency &amp; contribution</a:t>
            </a:r>
            <a:endParaRPr lang="en-US" sz="1110" dirty="0"/>
          </a:p>
        </p:txBody>
      </p:sp>
      <p:sp>
        <p:nvSpPr>
          <p:cNvPr id="55" name="Shape 41"/>
          <p:cNvSpPr/>
          <p:nvPr/>
        </p:nvSpPr>
        <p:spPr>
          <a:xfrm>
            <a:off x="10122408" y="3031236"/>
            <a:ext cx="283464" cy="283464"/>
          </a:xfrm>
          <a:prstGeom prst="ellipse">
            <a:avLst/>
          </a:prstGeom>
          <a:solidFill>
            <a:srgbClr val="2E7D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42"/>
          <p:cNvSpPr/>
          <p:nvPr/>
        </p:nvSpPr>
        <p:spPr>
          <a:xfrm>
            <a:off x="9235440" y="491947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70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840" dirty="0"/>
          </a:p>
        </p:txBody>
      </p:sp>
      <p:sp>
        <p:nvSpPr>
          <p:cNvPr id="57" name="Text 43"/>
          <p:cNvSpPr/>
          <p:nvPr/>
        </p:nvSpPr>
        <p:spPr>
          <a:xfrm>
            <a:off x="10049256" y="4828032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3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growth</a:t>
            </a:r>
            <a:endParaRPr lang="en-US" sz="1130" dirty="0"/>
          </a:p>
        </p:txBody>
      </p:sp>
      <p:sp>
        <p:nvSpPr>
          <p:cNvPr id="58" name="Shape 44"/>
          <p:cNvSpPr/>
          <p:nvPr/>
        </p:nvSpPr>
        <p:spPr>
          <a:xfrm>
            <a:off x="640080" y="5733288"/>
            <a:ext cx="10881360" cy="411480"/>
          </a:xfrm>
          <a:prstGeom prst="roundRect">
            <a:avLst>
              <a:gd name="adj" fmla="val 17778"/>
            </a:avLst>
          </a:prstGeom>
          <a:solidFill>
            <a:srgbClr val="0B223D"/>
          </a:solidFill>
          <a:ln w="12700">
            <a:solidFill>
              <a:srgbClr val="0B223D"/>
            </a:solidFill>
            <a:prstDash val="solid"/>
          </a:ln>
        </p:spPr>
      </p:sp>
      <p:pic>
        <p:nvPicPr>
          <p:cNvPr id="59" name="Image 12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9536" y="5833872"/>
            <a:ext cx="192024" cy="192024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1170432" y="57790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kern="0" spc="90" dirty="0">
                <a:solidFill>
                  <a:srgbClr val="D3A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GOVERNANCE</a:t>
            </a:r>
            <a:endParaRPr lang="en-US" sz="940" dirty="0"/>
          </a:p>
        </p:txBody>
      </p:sp>
      <p:sp>
        <p:nvSpPr>
          <p:cNvPr id="61" name="Text 46"/>
          <p:cNvSpPr/>
          <p:nvPr/>
        </p:nvSpPr>
        <p:spPr>
          <a:xfrm>
            <a:off x="2798064" y="57607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lifecycle review • regulation watch • incentive review • product kill criteria</a:t>
            </a:r>
            <a:endParaRPr lang="en-US" sz="1050" dirty="0"/>
          </a:p>
        </p:txBody>
      </p:sp>
      <p:sp>
        <p:nvSpPr>
          <p:cNvPr id="62" name="Shape 47"/>
          <p:cNvSpPr/>
          <p:nvPr/>
        </p:nvSpPr>
        <p:spPr>
          <a:xfrm>
            <a:off x="502920" y="6455664"/>
            <a:ext cx="11137392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3" name="Text 48"/>
          <p:cNvSpPr/>
          <p:nvPr/>
        </p:nvSpPr>
        <p:spPr>
          <a:xfrm>
            <a:off x="502920" y="6510528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3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3A62E"/>
          </a:solidFill>
          <a:ln w="12700">
            <a:solidFill>
              <a:srgbClr val="D3A6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kern="0" spc="110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DECISION SYSTEM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9674352" y="1188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FFF4D6"/>
          </a:solidFill>
          <a:ln w="12700">
            <a:solidFill>
              <a:srgbClr val="FFF4D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47504" y="137160"/>
            <a:ext cx="1728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30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TEAM 3 PROPOSAL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11686032" y="14630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27D98"/>
                </a:solidFill>
              </a:rPr>
              <a:t>09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420624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North Star, five metric branches, three practical experiments</a:t>
            </a:r>
            <a:endParaRPr lang="en-US" sz="2450" dirty="0"/>
          </a:p>
        </p:txBody>
      </p:sp>
      <p:sp>
        <p:nvSpPr>
          <p:cNvPr id="8" name="Shape 6"/>
          <p:cNvSpPr/>
          <p:nvPr/>
        </p:nvSpPr>
        <p:spPr>
          <a:xfrm>
            <a:off x="612648" y="1124712"/>
            <a:ext cx="10972800" cy="804672"/>
          </a:xfrm>
          <a:prstGeom prst="roundRect">
            <a:avLst>
              <a:gd name="adj" fmla="val 9091"/>
            </a:avLst>
          </a:prstGeom>
          <a:solidFill>
            <a:srgbClr val="FFF4D6"/>
          </a:solidFill>
          <a:ln w="12700">
            <a:solidFill>
              <a:srgbClr val="D3A62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6112" y="132588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21615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kern="0" spc="100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</a:t>
            </a:r>
            <a:endParaRPr lang="en-US" sz="1040" dirty="0"/>
          </a:p>
        </p:txBody>
      </p:sp>
      <p:sp>
        <p:nvSpPr>
          <p:cNvPr id="11" name="Text 8"/>
          <p:cNvSpPr/>
          <p:nvPr/>
        </p:nvSpPr>
        <p:spPr>
          <a:xfrm>
            <a:off x="1417320" y="1472184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risk-adjusted performing disbursals to the target segment</a:t>
            </a:r>
            <a:endParaRPr lang="en-US" sz="1720" dirty="0"/>
          </a:p>
        </p:txBody>
      </p:sp>
      <p:sp>
        <p:nvSpPr>
          <p:cNvPr id="12" name="Text 9"/>
          <p:cNvSpPr/>
          <p:nvPr/>
        </p:nvSpPr>
        <p:spPr>
          <a:xfrm>
            <a:off x="8577072" y="1325880"/>
            <a:ext cx="2523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40" b="1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+ portfolio quality + positive expected contribution</a:t>
            </a:r>
            <a:endParaRPr lang="en-US" sz="1040" dirty="0"/>
          </a:p>
        </p:txBody>
      </p:sp>
      <p:sp>
        <p:nvSpPr>
          <p:cNvPr id="13" name="Text 10"/>
          <p:cNvSpPr/>
          <p:nvPr/>
        </p:nvSpPr>
        <p:spPr>
          <a:xfrm>
            <a:off x="658368" y="2194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kern="0" spc="100" dirty="0">
                <a:solidFill>
                  <a:srgbClr val="2F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TREE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40080" y="2532888"/>
            <a:ext cx="66294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392" y="2651760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61872" y="259689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</a:t>
            </a:r>
            <a:endParaRPr lang="en-US" sz="1220" dirty="0"/>
          </a:p>
        </p:txBody>
      </p:sp>
      <p:sp>
        <p:nvSpPr>
          <p:cNvPr id="17" name="Text 13"/>
          <p:cNvSpPr/>
          <p:nvPr/>
        </p:nvSpPr>
        <p:spPr>
          <a:xfrm>
            <a:off x="2404872" y="259689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applications • cost / qualified lead</a:t>
            </a:r>
            <a:endParaRPr lang="en-US" sz="1070" dirty="0"/>
          </a:p>
        </p:txBody>
      </p:sp>
      <p:sp>
        <p:nvSpPr>
          <p:cNvPr id="18" name="Shape 14"/>
          <p:cNvSpPr/>
          <p:nvPr/>
        </p:nvSpPr>
        <p:spPr>
          <a:xfrm>
            <a:off x="640080" y="3127248"/>
            <a:ext cx="6629400" cy="493776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0392" y="3246120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61872" y="319125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</a:t>
            </a:r>
            <a:endParaRPr lang="en-US" sz="1220" dirty="0"/>
          </a:p>
        </p:txBody>
      </p:sp>
      <p:sp>
        <p:nvSpPr>
          <p:cNvPr id="21" name="Text 16"/>
          <p:cNvSpPr/>
          <p:nvPr/>
        </p:nvSpPr>
        <p:spPr>
          <a:xfrm>
            <a:off x="2404872" y="319125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• approval • disbursal conversion • TAT</a:t>
            </a:r>
            <a:endParaRPr lang="en-US" sz="1070" dirty="0"/>
          </a:p>
        </p:txBody>
      </p:sp>
      <p:sp>
        <p:nvSpPr>
          <p:cNvPr id="22" name="Shape 17"/>
          <p:cNvSpPr/>
          <p:nvPr/>
        </p:nvSpPr>
        <p:spPr>
          <a:xfrm>
            <a:off x="640080" y="3721608"/>
            <a:ext cx="66294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0392" y="38404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61872" y="378561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220" dirty="0"/>
          </a:p>
        </p:txBody>
      </p:sp>
      <p:sp>
        <p:nvSpPr>
          <p:cNvPr id="25" name="Text 19"/>
          <p:cNvSpPr/>
          <p:nvPr/>
        </p:nvSpPr>
        <p:spPr>
          <a:xfrm>
            <a:off x="2404872" y="37856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On-time EMI • 30+ DPD • service resolution</a:t>
            </a:r>
            <a:endParaRPr lang="en-US" sz="1070" dirty="0"/>
          </a:p>
        </p:txBody>
      </p:sp>
      <p:sp>
        <p:nvSpPr>
          <p:cNvPr id="26" name="Shape 20"/>
          <p:cNvSpPr/>
          <p:nvPr/>
        </p:nvSpPr>
        <p:spPr>
          <a:xfrm>
            <a:off x="640080" y="4315968"/>
            <a:ext cx="6629400" cy="493776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0392" y="4434840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61872" y="437997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220" dirty="0"/>
          </a:p>
        </p:txBody>
      </p:sp>
      <p:sp>
        <p:nvSpPr>
          <p:cNvPr id="29" name="Text 22"/>
          <p:cNvSpPr/>
          <p:nvPr/>
        </p:nvSpPr>
        <p:spPr>
          <a:xfrm>
            <a:off x="2404872" y="437997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• cost of funds • credit cost • contribution</a:t>
            </a:r>
            <a:endParaRPr lang="en-US" sz="1070" dirty="0"/>
          </a:p>
        </p:txBody>
      </p:sp>
      <p:sp>
        <p:nvSpPr>
          <p:cNvPr id="30" name="Shape 23"/>
          <p:cNvSpPr/>
          <p:nvPr/>
        </p:nvSpPr>
        <p:spPr>
          <a:xfrm>
            <a:off x="640080" y="4910328"/>
            <a:ext cx="66294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0392" y="502920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261872" y="497433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220" dirty="0"/>
          </a:p>
        </p:txBody>
      </p:sp>
      <p:sp>
        <p:nvSpPr>
          <p:cNvPr id="33" name="Text 25"/>
          <p:cNvSpPr/>
          <p:nvPr/>
        </p:nvSpPr>
        <p:spPr>
          <a:xfrm>
            <a:off x="2404872" y="49743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• complaints • privacy • regulatory breaches</a:t>
            </a:r>
            <a:endParaRPr lang="en-US" sz="1070" dirty="0"/>
          </a:p>
        </p:txBody>
      </p:sp>
      <p:sp>
        <p:nvSpPr>
          <p:cNvPr id="34" name="Text 26"/>
          <p:cNvSpPr/>
          <p:nvPr/>
        </p:nvSpPr>
        <p:spPr>
          <a:xfrm>
            <a:off x="7571232" y="2194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kern="0" spc="100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BACKLOG</a:t>
            </a:r>
            <a:endParaRPr lang="en-US" sz="1020" dirty="0"/>
          </a:p>
        </p:txBody>
      </p:sp>
      <p:sp>
        <p:nvSpPr>
          <p:cNvPr id="35" name="Shape 27"/>
          <p:cNvSpPr/>
          <p:nvPr/>
        </p:nvSpPr>
        <p:spPr>
          <a:xfrm>
            <a:off x="7543800" y="2532888"/>
            <a:ext cx="404164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790688" y="2752344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321040" y="2651760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consolidation calculator</a:t>
            </a:r>
            <a:endParaRPr lang="en-US" sz="1220" dirty="0"/>
          </a:p>
        </p:txBody>
      </p:sp>
      <p:sp>
        <p:nvSpPr>
          <p:cNvPr id="38" name="Text 29"/>
          <p:cNvSpPr/>
          <p:nvPr/>
        </p:nvSpPr>
        <p:spPr>
          <a:xfrm>
            <a:off x="8321040" y="3008376"/>
            <a:ext cx="2898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completion • complaints • risk mix</a:t>
            </a:r>
            <a:endParaRPr lang="en-US" sz="970" dirty="0"/>
          </a:p>
        </p:txBody>
      </p:sp>
      <p:sp>
        <p:nvSpPr>
          <p:cNvPr id="39" name="Shape 30"/>
          <p:cNvSpPr/>
          <p:nvPr/>
        </p:nvSpPr>
        <p:spPr>
          <a:xfrm>
            <a:off x="7543800" y="3611880"/>
            <a:ext cx="4041648" cy="896112"/>
          </a:xfrm>
          <a:prstGeom prst="roundRect">
            <a:avLst>
              <a:gd name="adj" fmla="val 8163"/>
            </a:avLst>
          </a:prstGeom>
          <a:solidFill>
            <a:srgbClr val="FFF4D6"/>
          </a:solidFill>
          <a:ln w="12700">
            <a:solidFill>
              <a:srgbClr val="E9CE74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790688" y="3831336"/>
            <a:ext cx="384048" cy="38404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8321040" y="373075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Quality-linked channel incentive</a:t>
            </a:r>
            <a:endParaRPr lang="en-US" sz="1220" dirty="0"/>
          </a:p>
        </p:txBody>
      </p:sp>
      <p:sp>
        <p:nvSpPr>
          <p:cNvPr id="42" name="Text 32"/>
          <p:cNvSpPr/>
          <p:nvPr/>
        </p:nvSpPr>
        <p:spPr>
          <a:xfrm>
            <a:off x="8321040" y="4087368"/>
            <a:ext cx="2898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• early delinquency • productivity</a:t>
            </a:r>
            <a:endParaRPr lang="en-US" sz="970" dirty="0"/>
          </a:p>
        </p:txBody>
      </p:sp>
      <p:sp>
        <p:nvSpPr>
          <p:cNvPr id="43" name="Shape 33"/>
          <p:cNvSpPr/>
          <p:nvPr/>
        </p:nvSpPr>
        <p:spPr>
          <a:xfrm>
            <a:off x="7543800" y="4690872"/>
            <a:ext cx="404164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790688" y="4910328"/>
            <a:ext cx="384048" cy="384048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8321040" y="480974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document journey</a:t>
            </a:r>
            <a:endParaRPr lang="en-US" sz="1220" dirty="0"/>
          </a:p>
        </p:txBody>
      </p:sp>
      <p:sp>
        <p:nvSpPr>
          <p:cNvPr id="46" name="Text 35"/>
          <p:cNvSpPr/>
          <p:nvPr/>
        </p:nvSpPr>
        <p:spPr>
          <a:xfrm>
            <a:off x="8321040" y="5166360"/>
            <a:ext cx="2898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 • completion • fraud / policy exceptions</a:t>
            </a:r>
            <a:endParaRPr lang="en-US" sz="970" dirty="0"/>
          </a:p>
        </p:txBody>
      </p:sp>
      <p:sp>
        <p:nvSpPr>
          <p:cNvPr id="47" name="Shape 36"/>
          <p:cNvSpPr/>
          <p:nvPr/>
        </p:nvSpPr>
        <p:spPr>
          <a:xfrm>
            <a:off x="502920" y="6455664"/>
            <a:ext cx="11137392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48" name="Text 37"/>
          <p:cNvSpPr/>
          <p:nvPr/>
        </p:nvSpPr>
        <p:spPr>
          <a:xfrm>
            <a:off x="502920" y="6510528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3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3A62E"/>
          </a:solidFill>
          <a:ln w="12700">
            <a:solidFill>
              <a:srgbClr val="D3A6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kern="0" spc="110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MANAGERIAL TAKEAWAYS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9674352" y="1188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FFF4D6"/>
          </a:solidFill>
          <a:ln w="12700">
            <a:solidFill>
              <a:srgbClr val="FFF4D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47504" y="137160"/>
            <a:ext cx="1728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30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TEAM 3 PROPOSAL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11686032" y="14630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27D98"/>
                </a:solidFill>
              </a:rPr>
              <a:t>10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420624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moves to strengthen customer value and portfolio quality</a:t>
            </a:r>
            <a:endParaRPr lang="en-US" sz="2450" dirty="0"/>
          </a:p>
        </p:txBody>
      </p:sp>
      <p:sp>
        <p:nvSpPr>
          <p:cNvPr id="8" name="Shape 6"/>
          <p:cNvSpPr/>
          <p:nvPr/>
        </p:nvSpPr>
        <p:spPr>
          <a:xfrm>
            <a:off x="621792" y="1344168"/>
            <a:ext cx="3035808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32104" y="150876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3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62656" y="1545336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2104" y="196596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through a risk-adjusted metric tree</a:t>
            </a:r>
            <a:endParaRPr lang="en-US" sz="1340" dirty="0"/>
          </a:p>
        </p:txBody>
      </p:sp>
      <p:sp>
        <p:nvSpPr>
          <p:cNvPr id="12" name="Text 9"/>
          <p:cNvSpPr/>
          <p:nvPr/>
        </p:nvSpPr>
        <p:spPr>
          <a:xfrm>
            <a:off x="832104" y="2496312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acquisition, conversion, margin, credit cost and mature-cohort performance.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4133088" y="1344168"/>
            <a:ext cx="3035808" cy="1709928"/>
          </a:xfrm>
          <a:prstGeom prst="roundRect">
            <a:avLst>
              <a:gd name="adj" fmla="val 4278"/>
            </a:avLst>
          </a:prstGeom>
          <a:solidFill>
            <a:srgbClr val="E9F2FA"/>
          </a:solidFill>
          <a:ln w="12700">
            <a:solidFill>
              <a:srgbClr val="BBD4E7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343400" y="150876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3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3952" y="154533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43400" y="196596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continuous discovery cadence</a:t>
            </a:r>
            <a:endParaRPr lang="en-US" sz="1340" dirty="0"/>
          </a:p>
        </p:txBody>
      </p:sp>
      <p:sp>
        <p:nvSpPr>
          <p:cNvPr id="17" name="Text 13"/>
          <p:cNvSpPr/>
          <p:nvPr/>
        </p:nvSpPr>
        <p:spPr>
          <a:xfrm>
            <a:off x="4343400" y="2496312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customers, sales and service teams—even for a mature product.</a:t>
            </a:r>
            <a:endParaRPr lang="en-US" sz="1030" dirty="0"/>
          </a:p>
        </p:txBody>
      </p:sp>
      <p:sp>
        <p:nvSpPr>
          <p:cNvPr id="18" name="Shape 14"/>
          <p:cNvSpPr/>
          <p:nvPr/>
        </p:nvSpPr>
        <p:spPr>
          <a:xfrm>
            <a:off x="7644384" y="1344168"/>
            <a:ext cx="3035808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854696" y="150876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3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85248" y="1545336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854696" y="196596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consolidation transparent by design</a:t>
            </a:r>
            <a:endParaRPr lang="en-US" sz="1340" dirty="0"/>
          </a:p>
        </p:txBody>
      </p:sp>
      <p:sp>
        <p:nvSpPr>
          <p:cNvPr id="22" name="Text 17"/>
          <p:cNvSpPr/>
          <p:nvPr/>
        </p:nvSpPr>
        <p:spPr>
          <a:xfrm>
            <a:off x="7854696" y="2496312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EMI, tenure, total repayment, fees and the customer trade-off.</a:t>
            </a:r>
            <a:endParaRPr lang="en-US" sz="1030" dirty="0"/>
          </a:p>
        </p:txBody>
      </p:sp>
      <p:sp>
        <p:nvSpPr>
          <p:cNvPr id="23" name="Shape 18"/>
          <p:cNvSpPr/>
          <p:nvPr/>
        </p:nvSpPr>
        <p:spPr>
          <a:xfrm>
            <a:off x="2359152" y="3502152"/>
            <a:ext cx="3035808" cy="1709928"/>
          </a:xfrm>
          <a:prstGeom prst="roundRect">
            <a:avLst>
              <a:gd name="adj" fmla="val 4278"/>
            </a:avLst>
          </a:prstGeom>
          <a:solidFill>
            <a:srgbClr val="E9F2FA"/>
          </a:solidFill>
          <a:ln w="12700">
            <a:solidFill>
              <a:srgbClr val="BBD4E7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2569464" y="3666744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3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00016" y="3703320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569464" y="412394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channel incentives to quality</a:t>
            </a:r>
            <a:endParaRPr lang="en-US" sz="1340" dirty="0"/>
          </a:p>
        </p:txBody>
      </p:sp>
      <p:sp>
        <p:nvSpPr>
          <p:cNvPr id="27" name="Text 21"/>
          <p:cNvSpPr/>
          <p:nvPr/>
        </p:nvSpPr>
        <p:spPr>
          <a:xfrm>
            <a:off x="2569464" y="4654296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qualified applications and healthy early repayment—not volume alone.</a:t>
            </a:r>
            <a:endParaRPr lang="en-US" sz="1030" dirty="0"/>
          </a:p>
        </p:txBody>
      </p:sp>
      <p:sp>
        <p:nvSpPr>
          <p:cNvPr id="28" name="Shape 22"/>
          <p:cNvSpPr/>
          <p:nvPr/>
        </p:nvSpPr>
        <p:spPr>
          <a:xfrm>
            <a:off x="5870448" y="3502152"/>
            <a:ext cx="3035808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6080760" y="3666744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A8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3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11312" y="3703320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080760" y="412394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0B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Pilot, learn and apply lifecycle kill criteria</a:t>
            </a:r>
            <a:endParaRPr lang="en-US" sz="1340" dirty="0"/>
          </a:p>
        </p:txBody>
      </p:sp>
      <p:sp>
        <p:nvSpPr>
          <p:cNvPr id="32" name="Text 25"/>
          <p:cNvSpPr/>
          <p:nvPr/>
        </p:nvSpPr>
        <p:spPr>
          <a:xfrm>
            <a:off x="6080760" y="4654296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only after customer, risk and contribution thresholds are met.</a:t>
            </a:r>
            <a:endParaRPr lang="en-US" sz="1030" dirty="0"/>
          </a:p>
        </p:txBody>
      </p:sp>
      <p:sp>
        <p:nvSpPr>
          <p:cNvPr id="33" name="Shape 26"/>
          <p:cNvSpPr/>
          <p:nvPr/>
        </p:nvSpPr>
        <p:spPr>
          <a:xfrm>
            <a:off x="621792" y="5513832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0B223D"/>
          </a:solidFill>
          <a:ln w="12700">
            <a:solidFill>
              <a:srgbClr val="0B223D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6968" y="5660136"/>
            <a:ext cx="329184" cy="32918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371600" y="5596128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80" dirty="0">
                <a:solidFill>
                  <a:srgbClr val="D3A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takeaway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2798064" y="5550408"/>
            <a:ext cx="8211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personal lending, the portfolio is the product: customer value, channel economics, risk and regulation must remain healthy over time.</a:t>
            </a:r>
            <a:endParaRPr lang="en-US" sz="1520" dirty="0"/>
          </a:p>
        </p:txBody>
      </p:sp>
      <p:sp>
        <p:nvSpPr>
          <p:cNvPr id="37" name="Text 29"/>
          <p:cNvSpPr/>
          <p:nvPr/>
        </p:nvSpPr>
        <p:spPr>
          <a:xfrm>
            <a:off x="685800" y="6236208"/>
            <a:ext cx="10835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2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1798</Words>
  <Application>Microsoft Office PowerPoint</Application>
  <PresentationFormat>Widescreen</PresentationFormat>
  <Paragraphs>273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Fortune Institute of International Business, New Delhi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Interview-Based Analysis of Poonawalla Fincorp</dc:title>
  <dc:subject>Product Management Practices in Personal Lending</dc:subject>
  <dc:creator>Learning Team 3</dc:creator>
  <cp:lastModifiedBy>Dhananjay Singh</cp:lastModifiedBy>
  <cp:revision>2</cp:revision>
  <dcterms:created xsi:type="dcterms:W3CDTF">2026-08-19T08:06:16Z</dcterms:created>
  <dcterms:modified xsi:type="dcterms:W3CDTF">2026-08-19T15:31:10Z</dcterms:modified>
</cp:coreProperties>
</file>